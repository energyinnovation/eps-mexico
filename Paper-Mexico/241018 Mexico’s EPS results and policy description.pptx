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6" r:id="rId19"/>
    <p:sldId id="297" r:id="rId20"/>
    <p:sldId id="298" r:id="rId21"/>
    <p:sldId id="299" r:id="rId22"/>
    <p:sldId id="300" r:id="rId23"/>
    <p:sldId id="301" r:id="rId24"/>
    <p:sldId id="302" r:id="rId25"/>
    <p:sldId id="295" r:id="rId26"/>
    <p:sldId id="273" r:id="rId27"/>
    <p:sldId id="274" r:id="rId28"/>
    <p:sldId id="275" r:id="rId29"/>
    <p:sldId id="294"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73"/>
    <p:restoredTop sz="86394"/>
  </p:normalViewPr>
  <p:slideViewPr>
    <p:cSldViewPr snapToGrid="0">
      <p:cViewPr varScale="1">
        <p:scale>
          <a:sx n="168" d="100"/>
          <a:sy n="168" d="100"/>
        </p:scale>
        <p:origin x="200" y="384"/>
      </p:cViewPr>
      <p:guideLst>
        <p:guide orient="horz" pos="1620"/>
        <p:guide pos="2880"/>
      </p:guideLst>
    </p:cSldViewPr>
  </p:slideViewPr>
  <p:outlineViewPr>
    <p:cViewPr>
      <p:scale>
        <a:sx n="33" d="100"/>
        <a:sy n="33" d="100"/>
      </p:scale>
      <p:origin x="0" y="-239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06bd245f65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06bd245f65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6bd245f65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06bd245f6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f9099cc8b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f9099cc8b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02a514445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02a514445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f9099cc8bf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f9099cc8bf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f9099cc8bf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f9099cc8b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f9099cc8b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f9099cc8b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f9099cc8bf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f9099cc8b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f9099cc8bf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f9099cc8b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f9099cc8bf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f9099cc8b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fc92277b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fc92277b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076db38cf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076db38cf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a44952599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a4495259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Deforestation emissions are reduced 70%, cropland, rice reduction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f9099cc8bf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f9099cc8b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0c2498d787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0c2498d78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09b2b90b5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09b2b90b5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51506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40422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C38CA-3DD0-09DF-04D3-C47B95631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44C3D-B57C-09A4-864E-6949A55D7C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62EACF0-A2E8-5CE8-D0D7-EF944259A58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128595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60586-893E-C85E-ECBF-6BDC9533E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2204C-7774-0DD5-EC94-9DF3C14ABE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5450031-FD51-08BE-3152-0FBBFE744E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154235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986A9-0287-4AC9-CAF1-79060EA60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4D3D5-6ABE-9000-C57B-D6D77168F3A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E03C22-C84E-4F39-6845-2818047C16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7465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4656E-1F38-CC4C-F84C-6CC6B71C9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1282A-2863-6E3F-9845-F3D7312A54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7EADD2-62C0-D700-391D-D4A97F8029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68361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E6AED-0280-B57A-7DE8-ACF5CDD57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E5C6E-CFF1-3190-1436-24B000087D9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67FB345-A0DB-C9FD-7998-1F2649FF4A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72216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4A40C6D6-807B-05D8-0FB9-40983D1A9579}"/>
            </a:ext>
          </a:extLst>
        </p:cNvPr>
        <p:cNvGrpSpPr/>
        <p:nvPr/>
      </p:nvGrpSpPr>
      <p:grpSpPr>
        <a:xfrm>
          <a:off x="0" y="0"/>
          <a:ext cx="0" cy="0"/>
          <a:chOff x="0" y="0"/>
          <a:chExt cx="0" cy="0"/>
        </a:xfrm>
      </p:grpSpPr>
      <p:sp>
        <p:nvSpPr>
          <p:cNvPr id="146" name="Google Shape;146;g309b2b90b56_0_0:notes">
            <a:extLst>
              <a:ext uri="{FF2B5EF4-FFF2-40B4-BE49-F238E27FC236}">
                <a16:creationId xmlns:a16="http://schemas.microsoft.com/office/drawing/2014/main" id="{281E5CBA-E79B-5149-EF36-724EBD5BFD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09b2b90b56_0_0:notes">
            <a:extLst>
              <a:ext uri="{FF2B5EF4-FFF2-40B4-BE49-F238E27FC236}">
                <a16:creationId xmlns:a16="http://schemas.microsoft.com/office/drawing/2014/main" id="{7BAC5485-70E7-A429-9291-2A924E424A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4904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09b2b90b5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09b2b90b5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09b2b90b56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09b2b90b56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09b2b90b56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09b2b90b56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fc92287dc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fc92287dc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09b2b90b56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09b2b90b5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09b2b90b56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09b2b90b5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09b2b90b56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09b2b90b56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09b2b90b56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09b2b90b5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09b2b90b56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09b2b90b56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09b2b90b56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09b2b90b56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09b2b90b56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09b2b90b56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THE TOP 3 MOST POSITIVELY AND MOST NEGATIVELY SECTORS, BY JOBS.</a:t>
            </a:r>
            <a:endParaRPr/>
          </a:p>
          <a:p>
            <a:pPr marL="0" lvl="0" indent="0" algn="l" rtl="0">
              <a:spcBef>
                <a:spcPts val="0"/>
              </a:spcBef>
              <a:spcAft>
                <a:spcPts val="0"/>
              </a:spcAft>
              <a:buNone/>
            </a:pPr>
            <a:endParaRPr/>
          </a:p>
          <a:p>
            <a:pPr marL="0" lvl="0" indent="0" algn="l" rtl="0">
              <a:spcBef>
                <a:spcPts val="0"/>
              </a:spcBef>
              <a:spcAft>
                <a:spcPts val="0"/>
              </a:spcAft>
              <a:buNone/>
            </a:pPr>
            <a:r>
              <a:rPr lang="en"/>
              <a:t>Include narrative about informal jobs (54%) and the relevance and benefits to transitioning to more formal jobs. </a:t>
            </a:r>
            <a:endParaRPr/>
          </a:p>
          <a:p>
            <a:pPr marL="0" lvl="0" indent="0" algn="l" rtl="0">
              <a:spcBef>
                <a:spcPts val="0"/>
              </a:spcBef>
              <a:spcAft>
                <a:spcPts val="0"/>
              </a:spcAft>
              <a:buNone/>
            </a:pPr>
            <a:r>
              <a:rPr lang="en"/>
              <a:t>Consider aspects of Gender Equity and Social Inclusion, particularly in the Private Households with Employed Persons.</a:t>
            </a:r>
            <a:endParaRPr/>
          </a:p>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09b2b90b56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09b2b90b5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09b2b90b56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09b2b90b56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THESE ARE THE TOP 3 MOST POSITIVELY AND MOST NEGATIVELY SECTORS, BY GDP.</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09b2b90b56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09b2b90b56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09b2b90b56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09b2b90b56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Describe narratively the allocation of revenues, specially for carbon tax, for social/household programs.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09b2b90b56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09b2b90b5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0a2bc75bf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0a2bc75b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0a2bc75bf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0a2bc75bf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09b2b90b56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09b2b90b5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09b2b90b56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09b2b90b5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076db38cf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076db38c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5.jpg"/><Relationship Id="rId4" Type="http://schemas.openxmlformats.org/officeDocument/2006/relationships/image" Target="../media/image4.jpg"/></Relationships>
</file>

<file path=ppt/slides/_rels/slide19.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 Id="rId9" Type="http://schemas.openxmlformats.org/officeDocument/2006/relationships/image" Target="../media/image12.jpg"/></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2.jpg"/></Relationships>
</file>

<file path=ppt/slides/_rels/slide3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jpg"/></Relationships>
</file>

<file path=ppt/slides/_rels/slide3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39.jp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jp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50.jpg"/></Relationships>
</file>

<file path=ppt/slides/_rels/slide42.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b="1" dirty="0"/>
              <a:t>Climate Ambitious Scenario for Mexico:</a:t>
            </a:r>
            <a:br>
              <a:rPr lang="en" b="1" dirty="0"/>
            </a:br>
            <a:r>
              <a:rPr lang="en" sz="3533" dirty="0"/>
              <a:t>EPS Modeling Results</a:t>
            </a:r>
            <a:endParaRPr sz="3533" dirty="0"/>
          </a:p>
        </p:txBody>
      </p:sp>
      <p:sp>
        <p:nvSpPr>
          <p:cNvPr id="55" name="Google Shape;55;p13"/>
          <p:cNvSpPr txBox="1">
            <a:spLocks noGrp="1"/>
          </p:cNvSpPr>
          <p:nvPr>
            <p:ph type="subTitle" idx="1"/>
          </p:nvPr>
        </p:nvSpPr>
        <p:spPr>
          <a:xfrm>
            <a:off x="311700" y="33675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b="1"/>
              <a:t>CPL/Fletcher &amp; ICM</a:t>
            </a:r>
            <a:endParaRPr b="1"/>
          </a:p>
          <a:p>
            <a:pPr marL="0" lvl="0" indent="0" algn="ctr" rtl="0">
              <a:spcBef>
                <a:spcPts val="0"/>
              </a:spcBef>
              <a:spcAft>
                <a:spcPts val="0"/>
              </a:spcAft>
              <a:buNone/>
            </a:pPr>
            <a:r>
              <a:rPr lang="en" b="1"/>
              <a:t>October 2024</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Scenario Policy Description</a:t>
            </a: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Scenarios</a:t>
            </a:r>
            <a:endParaRPr b="1" dirty="0"/>
          </a:p>
        </p:txBody>
      </p:sp>
      <p:sp>
        <p:nvSpPr>
          <p:cNvPr id="66" name="Google Shape;6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Char char="●"/>
            </a:pPr>
            <a:r>
              <a:rPr lang="en" sz="1600" dirty="0">
                <a:solidFill>
                  <a:schemeClr val="dk1"/>
                </a:solidFill>
              </a:rPr>
              <a:t>In the </a:t>
            </a:r>
            <a:r>
              <a:rPr lang="en" sz="1600" b="1" dirty="0">
                <a:solidFill>
                  <a:schemeClr val="dk1"/>
                </a:solidFill>
              </a:rPr>
              <a:t>Business as Usual (BAU) </a:t>
            </a:r>
            <a:r>
              <a:rPr lang="en" sz="1600" dirty="0">
                <a:solidFill>
                  <a:schemeClr val="dk1"/>
                </a:solidFill>
              </a:rPr>
              <a:t>baseline, Mexico continues with its current policies. These include a limited carbon tax, fuel subsidies, and no additional support for renewables and EVs. Emissions continue to rise as new low-carbon technologies (e.g. EV’s and renewables) have limited adoption.</a:t>
            </a:r>
            <a:endParaRPr sz="1600" dirty="0">
              <a:solidFill>
                <a:schemeClr val="dk1"/>
              </a:solidFill>
            </a:endParaRPr>
          </a:p>
          <a:p>
            <a:pPr marL="457200" lvl="0" indent="-330200" algn="l" rtl="0">
              <a:spcBef>
                <a:spcPts val="1000"/>
              </a:spcBef>
              <a:spcAft>
                <a:spcPts val="1000"/>
              </a:spcAft>
              <a:buClr>
                <a:schemeClr val="dk1"/>
              </a:buClr>
              <a:buSzPts val="1600"/>
              <a:buChar char="●"/>
            </a:pPr>
            <a:r>
              <a:rPr lang="en" sz="1600" dirty="0">
                <a:solidFill>
                  <a:schemeClr val="dk1"/>
                </a:solidFill>
              </a:rPr>
              <a:t>In the </a:t>
            </a:r>
            <a:r>
              <a:rPr lang="en" sz="1600" b="1" dirty="0">
                <a:solidFill>
                  <a:schemeClr val="dk1"/>
                </a:solidFill>
              </a:rPr>
              <a:t>Climate Ambition Scenario (CAS)</a:t>
            </a:r>
            <a:r>
              <a:rPr lang="en" sz="1600" dirty="0">
                <a:solidFill>
                  <a:schemeClr val="dk1"/>
                </a:solidFill>
              </a:rPr>
              <a:t>, Mexico transitions to renewable energy, increases energy efficiency, promotes a transition to EVs, improves the competitiveness of its industry, promotes more domestic purchasing, saves money on counter-productive fuel subsidies, and increases government revenue with a predictably increasing carbon tax.</a:t>
            </a:r>
            <a:endParaRPr sz="16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Cross Sectoral  Policies (market subsidies/taxes)</a:t>
            </a:r>
            <a:endParaRPr b="1" dirty="0"/>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lnSpc>
                <a:spcPct val="115833"/>
              </a:lnSpc>
              <a:spcBef>
                <a:spcPts val="0"/>
              </a:spcBef>
              <a:spcAft>
                <a:spcPts val="0"/>
              </a:spcAft>
              <a:buClr>
                <a:schemeClr val="dk1"/>
              </a:buClr>
              <a:buSzPct val="78571"/>
              <a:buFont typeface="Arial"/>
              <a:buNone/>
            </a:pPr>
            <a:r>
              <a:rPr lang="en" sz="1400" b="1" dirty="0">
                <a:solidFill>
                  <a:schemeClr val="dk1"/>
                </a:solidFill>
                <a:latin typeface="Aptos"/>
                <a:ea typeface="Aptos"/>
                <a:cs typeface="Aptos"/>
                <a:sym typeface="Aptos"/>
              </a:rPr>
              <a:t>Subsidy reduction</a:t>
            </a:r>
            <a:endParaRPr sz="1400" b="1" dirty="0">
              <a:solidFill>
                <a:schemeClr val="dk1"/>
              </a:solidFill>
              <a:latin typeface="Aptos"/>
              <a:ea typeface="Aptos"/>
              <a:cs typeface="Aptos"/>
              <a:sym typeface="Aptos"/>
            </a:endParaRPr>
          </a:p>
          <a:p>
            <a:pPr marL="457200" lvl="0" indent="-310832" algn="l" rtl="0">
              <a:lnSpc>
                <a:spcPct val="115833"/>
              </a:lnSpc>
              <a:spcBef>
                <a:spcPts val="1000"/>
              </a:spcBef>
              <a:spcAft>
                <a:spcPts val="0"/>
              </a:spcAft>
              <a:buClr>
                <a:schemeClr val="dk1"/>
              </a:buClr>
              <a:buSzPct val="100000"/>
              <a:buFont typeface="Aptos"/>
              <a:buChar char="●"/>
            </a:pPr>
            <a:r>
              <a:rPr lang="en" sz="1400" dirty="0">
                <a:solidFill>
                  <a:schemeClr val="dk1"/>
                </a:solidFill>
                <a:latin typeface="Aptos"/>
                <a:ea typeface="Aptos"/>
                <a:cs typeface="Aptos"/>
                <a:sym typeface="Aptos"/>
              </a:rPr>
              <a:t>Fuel subsidies for natural gas, diesel, gasoline, and kerosene will be steadily reduced by 2050. These reductions decrease government expenditures and also correct a market distorting signal.</a:t>
            </a:r>
            <a:endParaRPr sz="1400" dirty="0">
              <a:solidFill>
                <a:schemeClr val="dk1"/>
              </a:solidFill>
              <a:latin typeface="Aptos"/>
              <a:ea typeface="Aptos"/>
              <a:cs typeface="Aptos"/>
              <a:sym typeface="Aptos"/>
            </a:endParaRPr>
          </a:p>
          <a:p>
            <a:pPr marL="457200" lvl="0" indent="-310832" algn="l" rtl="0">
              <a:lnSpc>
                <a:spcPct val="115833"/>
              </a:lnSpc>
              <a:spcBef>
                <a:spcPts val="1000"/>
              </a:spcBef>
              <a:spcAft>
                <a:spcPts val="0"/>
              </a:spcAft>
              <a:buClr>
                <a:schemeClr val="dk1"/>
              </a:buClr>
              <a:buSzPct val="100000"/>
              <a:buFont typeface="Aptos"/>
              <a:buChar char="●"/>
            </a:pPr>
            <a:r>
              <a:rPr lang="en" sz="1400" dirty="0">
                <a:solidFill>
                  <a:schemeClr val="dk1"/>
                </a:solidFill>
                <a:latin typeface="Aptos"/>
                <a:ea typeface="Aptos"/>
                <a:cs typeface="Aptos"/>
                <a:sym typeface="Aptos"/>
              </a:rPr>
              <a:t>The electricity subsidy that the Mexican government currently grants to residential users should be redirected instead to finance the implementation of residential solar photovoltaic systems throughout the country. </a:t>
            </a:r>
            <a:endParaRPr sz="1400" dirty="0">
              <a:solidFill>
                <a:schemeClr val="dk1"/>
              </a:solidFill>
              <a:latin typeface="Aptos"/>
              <a:ea typeface="Aptos"/>
              <a:cs typeface="Aptos"/>
              <a:sym typeface="Aptos"/>
            </a:endParaRPr>
          </a:p>
          <a:p>
            <a:pPr marL="0" lvl="0" indent="0" algn="l" rtl="0">
              <a:lnSpc>
                <a:spcPct val="115833"/>
              </a:lnSpc>
              <a:spcBef>
                <a:spcPts val="1000"/>
              </a:spcBef>
              <a:spcAft>
                <a:spcPts val="0"/>
              </a:spcAft>
              <a:buNone/>
            </a:pPr>
            <a:r>
              <a:rPr lang="en" sz="1400" b="1" dirty="0">
                <a:solidFill>
                  <a:schemeClr val="dk1"/>
                </a:solidFill>
                <a:latin typeface="Aptos"/>
                <a:ea typeface="Aptos"/>
                <a:cs typeface="Aptos"/>
                <a:sym typeface="Aptos"/>
              </a:rPr>
              <a:t>Carbon tax</a:t>
            </a:r>
            <a:endParaRPr sz="1400" b="1" dirty="0">
              <a:solidFill>
                <a:schemeClr val="dk1"/>
              </a:solidFill>
              <a:latin typeface="Aptos"/>
              <a:ea typeface="Aptos"/>
              <a:cs typeface="Aptos"/>
              <a:sym typeface="Aptos"/>
            </a:endParaRPr>
          </a:p>
          <a:p>
            <a:pPr marL="457200" lvl="0" indent="-310832" algn="l" rtl="0">
              <a:lnSpc>
                <a:spcPct val="115833"/>
              </a:lnSpc>
              <a:spcBef>
                <a:spcPts val="1000"/>
              </a:spcBef>
              <a:spcAft>
                <a:spcPts val="0"/>
              </a:spcAft>
              <a:buClr>
                <a:schemeClr val="dk1"/>
              </a:buClr>
              <a:buSzPct val="100000"/>
              <a:buFont typeface="Aptos"/>
              <a:buChar char="●"/>
            </a:pPr>
            <a:r>
              <a:rPr lang="en" sz="1400" dirty="0">
                <a:solidFill>
                  <a:schemeClr val="dk1"/>
                </a:solidFill>
                <a:latin typeface="Aptos"/>
                <a:ea typeface="Aptos"/>
                <a:cs typeface="Aptos"/>
                <a:sym typeface="Aptos"/>
              </a:rPr>
              <a:t>The existing carbon tax is expanded to cover all sectors, differing from the existing limited sectoral coverage. The price rises from the existing $3.75USD/tonCO2e to $14 USD/tonCO2e by 2030. From 2030, the price continues an annual increase until a price of $90 USD/tonCO2e in 2050. The carbon tax revenue is used to reduce household taxes (50%), reduce payroll taxes (12.5%), pay down the national debt (12.5%), and increase the government’s general budget (25%).</a:t>
            </a:r>
            <a:endParaRPr sz="1400" dirty="0">
              <a:solidFill>
                <a:schemeClr val="dk1"/>
              </a:solidFill>
              <a:latin typeface="Aptos"/>
              <a:ea typeface="Aptos"/>
              <a:cs typeface="Aptos"/>
              <a:sym typeface="Aptos"/>
            </a:endParaRPr>
          </a:p>
          <a:p>
            <a:pPr marL="457200" lvl="0" indent="0" algn="l" rtl="0">
              <a:lnSpc>
                <a:spcPct val="115833"/>
              </a:lnSpc>
              <a:spcBef>
                <a:spcPts val="1000"/>
              </a:spcBef>
              <a:spcAft>
                <a:spcPts val="800"/>
              </a:spcAft>
              <a:buNone/>
            </a:pPr>
            <a:endParaRPr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CAS Electric Sector Policies</a:t>
            </a:r>
            <a:endParaRPr b="1"/>
          </a:p>
          <a:p>
            <a:pPr marL="0" lvl="0" indent="0" algn="l" rtl="0">
              <a:spcBef>
                <a:spcPts val="0"/>
              </a:spcBef>
              <a:spcAft>
                <a:spcPts val="0"/>
              </a:spcAft>
              <a:buNone/>
            </a:pPr>
            <a:endParaRPr b="1"/>
          </a:p>
        </p:txBody>
      </p:sp>
      <p:sp>
        <p:nvSpPr>
          <p:cNvPr id="78" name="Google Shape;78;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742" algn="l" rtl="0">
              <a:lnSpc>
                <a:spcPct val="95833"/>
              </a:lnSpc>
              <a:spcBef>
                <a:spcPts val="0"/>
              </a:spcBef>
              <a:spcAft>
                <a:spcPts val="0"/>
              </a:spcAft>
              <a:buClr>
                <a:schemeClr val="dk1"/>
              </a:buClr>
              <a:buSzPts val="1404"/>
              <a:buFont typeface="Aptos"/>
              <a:buChar char="●"/>
            </a:pPr>
            <a:r>
              <a:rPr lang="en" sz="1403" dirty="0">
                <a:solidFill>
                  <a:schemeClr val="dk1"/>
                </a:solidFill>
                <a:latin typeface="Aptos"/>
                <a:ea typeface="Aptos"/>
                <a:cs typeface="Aptos"/>
                <a:sym typeface="Aptos"/>
              </a:rPr>
              <a:t>Mexico implements a renewable portfolio standard that targets:</a:t>
            </a:r>
            <a:endParaRPr sz="1403" dirty="0">
              <a:solidFill>
                <a:schemeClr val="dk1"/>
              </a:solidFill>
              <a:latin typeface="Aptos"/>
              <a:ea typeface="Aptos"/>
              <a:cs typeface="Aptos"/>
              <a:sym typeface="Aptos"/>
            </a:endParaRPr>
          </a:p>
          <a:p>
            <a:pPr marL="914400" lvl="1" indent="-317742" algn="l" rtl="0">
              <a:lnSpc>
                <a:spcPct val="95833"/>
              </a:lnSpc>
              <a:spcBef>
                <a:spcPts val="1000"/>
              </a:spcBef>
              <a:spcAft>
                <a:spcPts val="0"/>
              </a:spcAft>
              <a:buClr>
                <a:schemeClr val="dk1"/>
              </a:buClr>
              <a:buSzPts val="1404"/>
              <a:buFont typeface="Aptos"/>
              <a:buChar char="○"/>
            </a:pPr>
            <a:r>
              <a:rPr lang="en" sz="1403" dirty="0">
                <a:solidFill>
                  <a:schemeClr val="dk1"/>
                </a:solidFill>
                <a:latin typeface="Aptos"/>
                <a:ea typeface="Aptos"/>
                <a:cs typeface="Aptos"/>
                <a:sym typeface="Aptos"/>
              </a:rPr>
              <a:t>40% by 2030, achieving generation of solar = 50.5 MW (72%) and wind 19.5MW (28%).</a:t>
            </a:r>
            <a:endParaRPr sz="1403" dirty="0">
              <a:solidFill>
                <a:schemeClr val="dk1"/>
              </a:solidFill>
              <a:latin typeface="Aptos"/>
              <a:ea typeface="Aptos"/>
              <a:cs typeface="Aptos"/>
              <a:sym typeface="Aptos"/>
            </a:endParaRPr>
          </a:p>
          <a:p>
            <a:pPr marL="914400" lvl="1" indent="-317742" algn="l" rtl="0">
              <a:lnSpc>
                <a:spcPct val="95833"/>
              </a:lnSpc>
              <a:spcBef>
                <a:spcPts val="1000"/>
              </a:spcBef>
              <a:spcAft>
                <a:spcPts val="0"/>
              </a:spcAft>
              <a:buClr>
                <a:schemeClr val="dk1"/>
              </a:buClr>
              <a:buSzPts val="1404"/>
              <a:buFont typeface="Aptos"/>
              <a:buChar char="○"/>
            </a:pPr>
            <a:r>
              <a:rPr lang="en" sz="1403" dirty="0">
                <a:solidFill>
                  <a:schemeClr val="dk1"/>
                </a:solidFill>
                <a:latin typeface="Aptos"/>
                <a:ea typeface="Aptos"/>
                <a:cs typeface="Aptos"/>
                <a:sym typeface="Aptos"/>
              </a:rPr>
              <a:t>65% by 2050, achieving generation of solar = 146.7 MW (77%) and wind = 44.6 MW (23%).</a:t>
            </a:r>
            <a:endParaRPr sz="1403" dirty="0">
              <a:solidFill>
                <a:schemeClr val="dk1"/>
              </a:solidFill>
              <a:latin typeface="Aptos"/>
              <a:ea typeface="Aptos"/>
              <a:cs typeface="Aptos"/>
              <a:sym typeface="Aptos"/>
            </a:endParaRPr>
          </a:p>
          <a:p>
            <a:pPr marL="457200" lvl="0" indent="-317742" algn="l" rtl="0">
              <a:lnSpc>
                <a:spcPct val="95833"/>
              </a:lnSpc>
              <a:spcBef>
                <a:spcPts val="1000"/>
              </a:spcBef>
              <a:spcAft>
                <a:spcPts val="0"/>
              </a:spcAft>
              <a:buClr>
                <a:schemeClr val="dk1"/>
              </a:buClr>
              <a:buSzPts val="1404"/>
              <a:buFont typeface="Aptos"/>
              <a:buChar char="●"/>
            </a:pPr>
            <a:r>
              <a:rPr lang="en" sz="1403" dirty="0">
                <a:solidFill>
                  <a:schemeClr val="dk1"/>
                </a:solidFill>
                <a:latin typeface="Aptos"/>
                <a:ea typeface="Aptos"/>
                <a:cs typeface="Aptos"/>
                <a:sym typeface="Aptos"/>
              </a:rPr>
              <a:t>The transmission grid is expanded by 27% by 2050 (compared to BAU) to support the deployment of renewable energies.</a:t>
            </a:r>
            <a:endParaRPr sz="1403" dirty="0">
              <a:solidFill>
                <a:schemeClr val="dk1"/>
              </a:solidFill>
              <a:latin typeface="Aptos"/>
              <a:ea typeface="Aptos"/>
              <a:cs typeface="Aptos"/>
              <a:sym typeface="Aptos"/>
            </a:endParaRPr>
          </a:p>
          <a:p>
            <a:pPr marL="457200" lvl="0" indent="-317742" algn="l" rtl="0">
              <a:lnSpc>
                <a:spcPct val="95833"/>
              </a:lnSpc>
              <a:spcBef>
                <a:spcPts val="1000"/>
              </a:spcBef>
              <a:spcAft>
                <a:spcPts val="0"/>
              </a:spcAft>
              <a:buClr>
                <a:schemeClr val="dk1"/>
              </a:buClr>
              <a:buSzPts val="1404"/>
              <a:buFont typeface="Aptos"/>
              <a:buChar char="●"/>
            </a:pPr>
            <a:r>
              <a:rPr lang="en" sz="1403" dirty="0">
                <a:solidFill>
                  <a:schemeClr val="dk1"/>
                </a:solidFill>
                <a:latin typeface="Aptos"/>
                <a:ea typeface="Aptos"/>
                <a:cs typeface="Aptos"/>
                <a:sym typeface="Aptos"/>
              </a:rPr>
              <a:t>Maintenance and modernization of the grid is conducted to reduce by transmission and distribution losses by 5%. </a:t>
            </a:r>
            <a:endParaRPr sz="1403" dirty="0">
              <a:solidFill>
                <a:schemeClr val="dk1"/>
              </a:solidFill>
              <a:latin typeface="Aptos"/>
              <a:ea typeface="Aptos"/>
              <a:cs typeface="Aptos"/>
              <a:sym typeface="Aptos"/>
            </a:endParaRPr>
          </a:p>
          <a:p>
            <a:pPr marL="457200" lvl="0" indent="-317742" algn="l" rtl="0">
              <a:lnSpc>
                <a:spcPct val="95833"/>
              </a:lnSpc>
              <a:spcBef>
                <a:spcPts val="1000"/>
              </a:spcBef>
              <a:spcAft>
                <a:spcPts val="1000"/>
              </a:spcAft>
              <a:buClr>
                <a:schemeClr val="dk1"/>
              </a:buClr>
              <a:buSzPts val="1404"/>
              <a:buFont typeface="Aptos"/>
              <a:buChar char="●"/>
            </a:pPr>
            <a:r>
              <a:rPr lang="en" sz="1403" dirty="0">
                <a:solidFill>
                  <a:schemeClr val="dk1"/>
                </a:solidFill>
                <a:latin typeface="Aptos"/>
                <a:ea typeface="Aptos"/>
                <a:cs typeface="Aptos"/>
                <a:sym typeface="Aptos"/>
              </a:rPr>
              <a:t>Grid-scale battery storage is installed (25GW by 2050) to improve grid stability from intermittent renewable energies.</a:t>
            </a:r>
            <a:endParaRPr sz="146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Distributed Generation Policies</a:t>
            </a:r>
            <a:endParaRPr b="1" dirty="0"/>
          </a:p>
          <a:p>
            <a:pPr marL="0" lvl="0" indent="0" algn="l" rtl="0">
              <a:spcBef>
                <a:spcPts val="0"/>
              </a:spcBef>
              <a:spcAft>
                <a:spcPts val="0"/>
              </a:spcAft>
              <a:buNone/>
            </a:pPr>
            <a:endParaRPr b="1" dirty="0"/>
          </a:p>
        </p:txBody>
      </p:sp>
      <p:sp>
        <p:nvSpPr>
          <p:cNvPr id="84" name="Google Shape;8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15833"/>
              </a:lnSpc>
              <a:spcBef>
                <a:spcPts val="0"/>
              </a:spcBef>
              <a:spcAft>
                <a:spcPts val="0"/>
              </a:spcAft>
              <a:buNone/>
            </a:pPr>
            <a:r>
              <a:rPr lang="en" sz="1400">
                <a:solidFill>
                  <a:schemeClr val="dk1"/>
                </a:solidFill>
                <a:latin typeface="Aptos"/>
                <a:ea typeface="Aptos"/>
                <a:cs typeface="Aptos"/>
                <a:sym typeface="Aptos"/>
              </a:rPr>
              <a:t>Building on Mexico’s existing programs to promote solar on homes and in communities:</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Increase the near-term 2030 goal to 7GW of distributed solar. Assuming 60% is installed on homes, over 1.75 million rooftops will have solar, which provides families living in poverty with access to clean energy and reducing the cost of electricity by up to 20%.</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By 2050 distributed solar will reach ~40 GW.</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1000"/>
              </a:spcAft>
              <a:buClr>
                <a:schemeClr val="dk1"/>
              </a:buClr>
              <a:buSzPts val="1400"/>
              <a:buFont typeface="Aptos"/>
              <a:buChar char="●"/>
            </a:pPr>
            <a:r>
              <a:rPr lang="en" sz="1400">
                <a:solidFill>
                  <a:schemeClr val="dk1"/>
                </a:solidFill>
                <a:latin typeface="Aptos"/>
                <a:ea typeface="Aptos"/>
                <a:cs typeface="Aptos"/>
                <a:sym typeface="Aptos"/>
              </a:rPr>
              <a:t>From a gender perspective, having access to clean energy sources can reduce the time women spend on tasks such as getting firewood or cooking with fossil fuels, which represents a danger to their health and safety and that of their children, and have more time for education or work opportunities (WHO, 2023; OLADE, 2019).</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a:no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Residential and Commercial Buildings Policies</a:t>
            </a:r>
            <a:endParaRPr b="1" dirty="0"/>
          </a:p>
        </p:txBody>
      </p:sp>
      <p:sp>
        <p:nvSpPr>
          <p:cNvPr id="90" name="Google Shape;90;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Electrification policies and energy efficiency standards reduce residential sector emissions by ~70% by 2050 (below BAU).</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Similarly, energy efficiency and electrification reduce commercial sector emissions by ~74% by 2050 (below BAU), including standards for electric appliances, cooling, and heating. </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In rural areas, alternatives for cooking, heating, and lighting should be considered. For example, low-emissions stoves.</a:t>
            </a:r>
            <a:r>
              <a:rPr lang="en" sz="1000">
                <a:solidFill>
                  <a:schemeClr val="dk1"/>
                </a:solidFill>
                <a:latin typeface="Aptos"/>
                <a:ea typeface="Aptos"/>
                <a:cs typeface="Aptos"/>
                <a:sym typeface="Aptos"/>
              </a:rPr>
              <a:t> (not modeled)</a:t>
            </a:r>
            <a:endParaRPr sz="1000">
              <a:solidFill>
                <a:schemeClr val="dk1"/>
              </a:solidFill>
              <a:latin typeface="Aptos"/>
              <a:ea typeface="Aptos"/>
              <a:cs typeface="Aptos"/>
              <a:sym typeface="Aptos"/>
            </a:endParaRPr>
          </a:p>
          <a:p>
            <a:pPr marL="0" lvl="0" indent="0" algn="l" rtl="0">
              <a:lnSpc>
                <a:spcPct val="115833"/>
              </a:lnSpc>
              <a:spcBef>
                <a:spcPts val="1000"/>
              </a:spcBef>
              <a:spcAft>
                <a:spcPts val="0"/>
              </a:spcAft>
              <a:buNone/>
            </a:pPr>
            <a:endParaRPr sz="1400">
              <a:solidFill>
                <a:schemeClr val="dk1"/>
              </a:solidFill>
              <a:highlight>
                <a:srgbClr val="FFFF00"/>
              </a:highlight>
              <a:latin typeface="Aptos"/>
              <a:ea typeface="Aptos"/>
              <a:cs typeface="Aptos"/>
              <a:sym typeface="Aptos"/>
            </a:endParaRPr>
          </a:p>
          <a:p>
            <a:pPr marL="0" lvl="0" indent="0" algn="l" rtl="0">
              <a:spcBef>
                <a:spcPts val="8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Transport Policies</a:t>
            </a:r>
            <a:endParaRPr b="1" dirty="0"/>
          </a:p>
        </p:txBody>
      </p:sp>
      <p:sp>
        <p:nvSpPr>
          <p:cNvPr id="96" name="Google Shape;96;p20"/>
          <p:cNvSpPr txBox="1">
            <a:spLocks noGrp="1"/>
          </p:cNvSpPr>
          <p:nvPr>
            <p:ph type="body" idx="1"/>
          </p:nvPr>
        </p:nvSpPr>
        <p:spPr>
          <a:xfrm>
            <a:off x="311700" y="1152475"/>
            <a:ext cx="8520600" cy="3797100"/>
          </a:xfrm>
          <a:prstGeom prst="rect">
            <a:avLst/>
          </a:prstGeom>
        </p:spPr>
        <p:txBody>
          <a:bodyPr spcFirstLastPara="1" wrap="square" lIns="91425" tIns="91425" rIns="91425" bIns="91425" anchor="t" anchorCtr="0">
            <a:normAutofit fontScale="85000" lnSpcReduction="10000"/>
          </a:bodyPr>
          <a:lstStyle/>
          <a:p>
            <a:pPr marL="0" lvl="0" indent="0" algn="l" rtl="0">
              <a:lnSpc>
                <a:spcPct val="115833"/>
              </a:lnSpc>
              <a:spcBef>
                <a:spcPts val="0"/>
              </a:spcBef>
              <a:spcAft>
                <a:spcPts val="0"/>
              </a:spcAft>
              <a:buNone/>
            </a:pPr>
            <a:r>
              <a:rPr lang="en" sz="1508" b="1">
                <a:solidFill>
                  <a:schemeClr val="dk1"/>
                </a:solidFill>
                <a:latin typeface="Aptos"/>
                <a:ea typeface="Aptos"/>
                <a:cs typeface="Aptos"/>
                <a:sym typeface="Aptos"/>
              </a:rPr>
              <a:t>EVs</a:t>
            </a:r>
            <a:endParaRPr sz="1508" b="1">
              <a:solidFill>
                <a:schemeClr val="dk1"/>
              </a:solidFill>
              <a:latin typeface="Aptos"/>
              <a:ea typeface="Aptos"/>
              <a:cs typeface="Aptos"/>
              <a:sym typeface="Aptos"/>
            </a:endParaRPr>
          </a:p>
          <a:p>
            <a:pPr marL="457200" lvl="0" indent="-310000" algn="l" rtl="0">
              <a:lnSpc>
                <a:spcPct val="115833"/>
              </a:lnSpc>
              <a:spcBef>
                <a:spcPts val="1000"/>
              </a:spcBef>
              <a:spcAft>
                <a:spcPts val="0"/>
              </a:spcAft>
              <a:buClr>
                <a:schemeClr val="dk1"/>
              </a:buClr>
              <a:buSzPct val="100000"/>
              <a:buFont typeface="Aptos"/>
              <a:buChar char="●"/>
            </a:pPr>
            <a:r>
              <a:rPr lang="en" sz="1508">
                <a:solidFill>
                  <a:schemeClr val="dk1"/>
                </a:solidFill>
                <a:latin typeface="Aptos"/>
                <a:ea typeface="Aptos"/>
                <a:cs typeface="Aptos"/>
                <a:sym typeface="Aptos"/>
              </a:rPr>
              <a:t>Mexico will phase in a EV sales mandate slowly from 2025-2050. By 2050, all new light duty vehicle sales will be EVs, and 90% of new heavy duty vehicle sales will be electric. Note: the vehicle fleet will still have gasoline/diesel vehicles until they are retired by choice.</a:t>
            </a:r>
            <a:endParaRPr sz="1508" b="1">
              <a:solidFill>
                <a:schemeClr val="dk1"/>
              </a:solidFill>
              <a:latin typeface="Aptos"/>
              <a:ea typeface="Aptos"/>
              <a:cs typeface="Aptos"/>
              <a:sym typeface="Aptos"/>
            </a:endParaRPr>
          </a:p>
          <a:p>
            <a:pPr marL="457200" lvl="0" indent="-310000" algn="l" rtl="0">
              <a:lnSpc>
                <a:spcPct val="115833"/>
              </a:lnSpc>
              <a:spcBef>
                <a:spcPts val="1000"/>
              </a:spcBef>
              <a:spcAft>
                <a:spcPts val="0"/>
              </a:spcAft>
              <a:buClr>
                <a:schemeClr val="dk1"/>
              </a:buClr>
              <a:buSzPct val="100000"/>
              <a:buFont typeface="Aptos"/>
              <a:buChar char="●"/>
            </a:pPr>
            <a:r>
              <a:rPr lang="en" sz="1508">
                <a:solidFill>
                  <a:schemeClr val="dk1"/>
                </a:solidFill>
                <a:latin typeface="Aptos"/>
                <a:ea typeface="Aptos"/>
                <a:cs typeface="Aptos"/>
                <a:sym typeface="Aptos"/>
              </a:rPr>
              <a:t>For freight transport, the CAS combines EVs and switching to more sustainable modes of transport. Trains carry more freight that under BAU and EVs reduce emissions from the “last-mile” trucks.</a:t>
            </a:r>
            <a:endParaRPr sz="1508">
              <a:solidFill>
                <a:schemeClr val="dk1"/>
              </a:solidFill>
              <a:latin typeface="Aptos"/>
              <a:ea typeface="Aptos"/>
              <a:cs typeface="Aptos"/>
              <a:sym typeface="Aptos"/>
            </a:endParaRPr>
          </a:p>
          <a:p>
            <a:pPr marL="0" lvl="0" indent="0" algn="l" rtl="0">
              <a:spcBef>
                <a:spcPts val="1000"/>
              </a:spcBef>
              <a:spcAft>
                <a:spcPts val="0"/>
              </a:spcAft>
              <a:buNone/>
            </a:pPr>
            <a:r>
              <a:rPr lang="en" sz="1508" b="1">
                <a:solidFill>
                  <a:schemeClr val="dk1"/>
                </a:solidFill>
                <a:latin typeface="Aptos"/>
                <a:ea typeface="Aptos"/>
                <a:cs typeface="Aptos"/>
                <a:sym typeface="Aptos"/>
              </a:rPr>
              <a:t>Transport demand management</a:t>
            </a:r>
            <a:endParaRPr sz="2108" b="1"/>
          </a:p>
          <a:p>
            <a:pPr marL="457200" lvl="0" indent="-310000" algn="l" rtl="0">
              <a:lnSpc>
                <a:spcPct val="115833"/>
              </a:lnSpc>
              <a:spcBef>
                <a:spcPts val="1000"/>
              </a:spcBef>
              <a:spcAft>
                <a:spcPts val="0"/>
              </a:spcAft>
              <a:buClr>
                <a:schemeClr val="dk1"/>
              </a:buClr>
              <a:buSzPct val="100000"/>
              <a:buFont typeface="Aptos"/>
              <a:buChar char="●"/>
            </a:pPr>
            <a:r>
              <a:rPr lang="en" sz="1508">
                <a:solidFill>
                  <a:schemeClr val="dk1"/>
                </a:solidFill>
                <a:latin typeface="Aptos"/>
                <a:ea typeface="Aptos"/>
                <a:cs typeface="Aptos"/>
                <a:sym typeface="Aptos"/>
              </a:rPr>
              <a:t>For cities, efficient and accessible electric or low-emission public transport should be promoted to reduce the use of private vehicles. </a:t>
            </a:r>
            <a:endParaRPr sz="1508">
              <a:solidFill>
                <a:schemeClr val="dk1"/>
              </a:solidFill>
              <a:latin typeface="Aptos"/>
              <a:ea typeface="Aptos"/>
              <a:cs typeface="Aptos"/>
              <a:sym typeface="Aptos"/>
            </a:endParaRPr>
          </a:p>
          <a:p>
            <a:pPr marL="0" lvl="0" indent="0" algn="l" rtl="0">
              <a:lnSpc>
                <a:spcPct val="100000"/>
              </a:lnSpc>
              <a:spcBef>
                <a:spcPts val="1000"/>
              </a:spcBef>
              <a:spcAft>
                <a:spcPts val="0"/>
              </a:spcAft>
              <a:buNone/>
            </a:pPr>
            <a:r>
              <a:rPr lang="en" sz="1508" b="1">
                <a:solidFill>
                  <a:schemeClr val="dk1"/>
                </a:solidFill>
              </a:rPr>
              <a:t>Fuel economy and emission standards</a:t>
            </a:r>
            <a:endParaRPr sz="1508">
              <a:solidFill>
                <a:schemeClr val="dk1"/>
              </a:solidFill>
              <a:latin typeface="Aptos"/>
              <a:ea typeface="Aptos"/>
              <a:cs typeface="Aptos"/>
              <a:sym typeface="Aptos"/>
            </a:endParaRPr>
          </a:p>
          <a:p>
            <a:pPr marL="457200" lvl="0" indent="-310000" algn="l" rtl="0">
              <a:lnSpc>
                <a:spcPct val="115833"/>
              </a:lnSpc>
              <a:spcBef>
                <a:spcPts val="0"/>
              </a:spcBef>
              <a:spcAft>
                <a:spcPts val="0"/>
              </a:spcAft>
              <a:buClr>
                <a:schemeClr val="dk1"/>
              </a:buClr>
              <a:buSzPct val="100000"/>
              <a:buFont typeface="Aptos"/>
              <a:buChar char="●"/>
            </a:pPr>
            <a:r>
              <a:rPr lang="en" sz="1508">
                <a:solidFill>
                  <a:schemeClr val="dk1"/>
                </a:solidFill>
                <a:latin typeface="Aptos"/>
                <a:ea typeface="Aptos"/>
                <a:cs typeface="Aptos"/>
                <a:sym typeface="Aptos"/>
              </a:rPr>
              <a:t>Fuel economy and emission standards for vehicles are more stringent goals, bringing them in line with the latest EPA 2024 standards. Supporting these standards cleans the air and helps decarbonize this sector. </a:t>
            </a:r>
            <a:endParaRPr sz="1508" b="1">
              <a:solidFill>
                <a:schemeClr val="dk1"/>
              </a:solidFill>
              <a:latin typeface="Aptos"/>
              <a:ea typeface="Aptos"/>
              <a:cs typeface="Aptos"/>
              <a:sym typeface="Aptos"/>
            </a:endParaRPr>
          </a:p>
          <a:p>
            <a:pPr marL="457200" lvl="0" indent="-304165" algn="l" rtl="0">
              <a:lnSpc>
                <a:spcPct val="115833"/>
              </a:lnSpc>
              <a:spcBef>
                <a:spcPts val="1000"/>
              </a:spcBef>
              <a:spcAft>
                <a:spcPts val="1000"/>
              </a:spcAft>
              <a:buClr>
                <a:schemeClr val="dk1"/>
              </a:buClr>
              <a:buSzPct val="92831"/>
              <a:buFont typeface="Aptos"/>
              <a:buChar char="●"/>
            </a:pPr>
            <a:r>
              <a:rPr lang="en" sz="1508">
                <a:solidFill>
                  <a:schemeClr val="dk1"/>
                </a:solidFill>
                <a:latin typeface="Aptos"/>
                <a:ea typeface="Aptos"/>
                <a:cs typeface="Aptos"/>
                <a:sym typeface="Aptos"/>
              </a:rPr>
              <a:t>Complying with these standards results in a 15% reduction of criteria pollutants compared to baseline</a:t>
            </a:r>
            <a:r>
              <a:rPr lang="en" sz="1400">
                <a:solidFill>
                  <a:schemeClr val="dk1"/>
                </a:solidFill>
                <a:latin typeface="Aptos"/>
                <a:ea typeface="Aptos"/>
                <a:cs typeface="Aptos"/>
                <a:sym typeface="Aptos"/>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Oil and Gas Policies - Fugitive Emissions</a:t>
            </a:r>
            <a:endParaRPr b="1" dirty="0"/>
          </a:p>
        </p:txBody>
      </p:sp>
      <p:sp>
        <p:nvSpPr>
          <p:cNvPr id="102" name="Google Shape;102;p21"/>
          <p:cNvSpPr txBox="1">
            <a:spLocks noGrp="1"/>
          </p:cNvSpPr>
          <p:nvPr>
            <p:ph type="body" idx="1"/>
          </p:nvPr>
        </p:nvSpPr>
        <p:spPr>
          <a:xfrm>
            <a:off x="311700" y="1152475"/>
            <a:ext cx="8520600" cy="3889500"/>
          </a:xfrm>
          <a:prstGeom prst="rect">
            <a:avLst/>
          </a:prstGeom>
        </p:spPr>
        <p:txBody>
          <a:bodyPr spcFirstLastPara="1" wrap="square" lIns="91425" tIns="91425" rIns="91425" bIns="91425" anchor="t" anchorCtr="0">
            <a:noAutofit/>
          </a:bodyPr>
          <a:lstStyle/>
          <a:p>
            <a:pPr marL="457200" lvl="0" indent="-311150" algn="l" rtl="0">
              <a:lnSpc>
                <a:spcPct val="95833"/>
              </a:lnSpc>
              <a:spcBef>
                <a:spcPts val="0"/>
              </a:spcBef>
              <a:spcAft>
                <a:spcPts val="0"/>
              </a:spcAft>
              <a:buClr>
                <a:schemeClr val="dk1"/>
              </a:buClr>
              <a:buSzPts val="1300"/>
              <a:buFont typeface="Aptos"/>
              <a:buChar char="●"/>
            </a:pPr>
            <a:r>
              <a:rPr lang="en" sz="1300">
                <a:solidFill>
                  <a:schemeClr val="dk1"/>
                </a:solidFill>
                <a:latin typeface="Aptos"/>
                <a:ea typeface="Aptos"/>
                <a:cs typeface="Aptos"/>
                <a:sym typeface="Aptos"/>
              </a:rPr>
              <a:t>According to PEMEX’s Sustainability Plan, 30% of the routine and fugitive emissions should be reduced by 2030 compared to 2030. CAS includes this 2030 goal and achieves a 100% reduction of fugitive methane emissions from the oil &amp; gas sector by 2050.</a:t>
            </a:r>
            <a:endParaRPr sz="1300">
              <a:solidFill>
                <a:schemeClr val="dk1"/>
              </a:solidFill>
              <a:latin typeface="Aptos"/>
              <a:ea typeface="Aptos"/>
              <a:cs typeface="Aptos"/>
              <a:sym typeface="Aptos"/>
            </a:endParaRPr>
          </a:p>
          <a:p>
            <a:pPr marL="457200" lvl="0" indent="-311150" algn="l" rtl="0">
              <a:lnSpc>
                <a:spcPct val="95833"/>
              </a:lnSpc>
              <a:spcBef>
                <a:spcPts val="800"/>
              </a:spcBef>
              <a:spcAft>
                <a:spcPts val="0"/>
              </a:spcAft>
              <a:buClr>
                <a:schemeClr val="dk1"/>
              </a:buClr>
              <a:buSzPts val="1300"/>
              <a:buFont typeface="Aptos"/>
              <a:buChar char="●"/>
            </a:pPr>
            <a:r>
              <a:rPr lang="en" sz="1300">
                <a:solidFill>
                  <a:schemeClr val="dk1"/>
                </a:solidFill>
                <a:latin typeface="Aptos"/>
                <a:ea typeface="Aptos"/>
                <a:cs typeface="Aptos"/>
                <a:sym typeface="Aptos"/>
              </a:rPr>
              <a:t>Methane policies includes both the avoiding and capturing emissions in several sub-sectors of the oil &amp; gas  production and distribution chain (i.e. oil &amp; gas extraction, gas processing, petroleum and coke refining). </a:t>
            </a:r>
            <a:endParaRPr sz="1300">
              <a:solidFill>
                <a:schemeClr val="dk1"/>
              </a:solidFill>
              <a:latin typeface="Aptos"/>
              <a:ea typeface="Aptos"/>
              <a:cs typeface="Aptos"/>
              <a:sym typeface="Aptos"/>
            </a:endParaRPr>
          </a:p>
          <a:p>
            <a:pPr marL="457200" lvl="0" indent="-311150" algn="l" rtl="0">
              <a:lnSpc>
                <a:spcPct val="95833"/>
              </a:lnSpc>
              <a:spcBef>
                <a:spcPts val="800"/>
              </a:spcBef>
              <a:spcAft>
                <a:spcPts val="0"/>
              </a:spcAft>
              <a:buClr>
                <a:schemeClr val="dk1"/>
              </a:buClr>
              <a:buSzPts val="1300"/>
              <a:buFont typeface="Aptos"/>
              <a:buChar char="●"/>
            </a:pPr>
            <a:r>
              <a:rPr lang="en" sz="1300">
                <a:solidFill>
                  <a:schemeClr val="dk1"/>
                </a:solidFill>
                <a:latin typeface="Aptos"/>
                <a:ea typeface="Aptos"/>
                <a:cs typeface="Aptos"/>
                <a:sym typeface="Aptos"/>
              </a:rPr>
              <a:t>To avoid fugitive emissions, it is key enforce existing regulations throughout the supply chain to reduce and eventually eliminate gas venting and flaring.</a:t>
            </a:r>
            <a:endParaRPr sz="1300">
              <a:solidFill>
                <a:schemeClr val="dk1"/>
              </a:solidFill>
              <a:latin typeface="Aptos"/>
              <a:ea typeface="Aptos"/>
              <a:cs typeface="Aptos"/>
              <a:sym typeface="Aptos"/>
            </a:endParaRPr>
          </a:p>
          <a:p>
            <a:pPr marL="457200" lvl="0" indent="-311150" algn="just" rtl="0">
              <a:lnSpc>
                <a:spcPct val="95833"/>
              </a:lnSpc>
              <a:spcBef>
                <a:spcPts val="800"/>
              </a:spcBef>
              <a:spcAft>
                <a:spcPts val="800"/>
              </a:spcAft>
              <a:buClr>
                <a:schemeClr val="dk1"/>
              </a:buClr>
              <a:buSzPts val="1300"/>
              <a:buFont typeface="Aptos"/>
              <a:buChar char="●"/>
            </a:pPr>
            <a:r>
              <a:rPr lang="en" sz="1300">
                <a:solidFill>
                  <a:schemeClr val="dk1"/>
                </a:solidFill>
                <a:latin typeface="Aptos"/>
                <a:ea typeface="Aptos"/>
                <a:cs typeface="Aptos"/>
                <a:sym typeface="Aptos"/>
              </a:rPr>
              <a:t>PEMEX’s target is promising, however, some studies suggest that methane emissions, and particularly, fugitive emissions from the oil and gas sector are highly underestimated (UNEP, 2022). This is why taking immediate action to reduce and avoid fugitive emissions is crucial, and it has the potential to generate other co-benefits in terms of improving health and safety, and inclusion for workers, and communities living around, reducing water and soil pollution. It also represents a low cost measure with no negative impacts on jobs. </a:t>
            </a:r>
            <a:endParaRPr sz="1300">
              <a:solidFill>
                <a:schemeClr val="dk1"/>
              </a:solidFill>
              <a:latin typeface="Aptos"/>
              <a:ea typeface="Aptos"/>
              <a:cs typeface="Aptos"/>
              <a:sym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Oil and Gas - Cogeneration Opportunities</a:t>
            </a:r>
            <a:endParaRPr b="1" dirty="0"/>
          </a:p>
        </p:txBody>
      </p:sp>
      <p:sp>
        <p:nvSpPr>
          <p:cNvPr id="108" name="Google Shape;10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23850" algn="l" rtl="0">
              <a:lnSpc>
                <a:spcPct val="115833"/>
              </a:lnSpc>
              <a:spcBef>
                <a:spcPts val="0"/>
              </a:spcBef>
              <a:spcAft>
                <a:spcPts val="0"/>
              </a:spcAft>
              <a:buClr>
                <a:schemeClr val="dk1"/>
              </a:buClr>
              <a:buSzPts val="1500"/>
              <a:buFont typeface="Aptos"/>
              <a:buChar char="●"/>
            </a:pPr>
            <a:r>
              <a:rPr lang="en" sz="1500">
                <a:solidFill>
                  <a:schemeClr val="dk1"/>
                </a:solidFill>
                <a:latin typeface="Aptos"/>
                <a:ea typeface="Aptos"/>
                <a:cs typeface="Aptos"/>
                <a:sym typeface="Aptos"/>
              </a:rPr>
              <a:t>Investing in cogeneration and heat recovery technologies to achieve process efficiency reduces emissions, particularly in refining processes. </a:t>
            </a:r>
            <a:endParaRPr sz="1500">
              <a:solidFill>
                <a:schemeClr val="dk1"/>
              </a:solidFill>
              <a:latin typeface="Aptos"/>
              <a:ea typeface="Aptos"/>
              <a:cs typeface="Aptos"/>
              <a:sym typeface="Aptos"/>
            </a:endParaRPr>
          </a:p>
          <a:p>
            <a:pPr marL="457200" lvl="0" indent="-323850" algn="l" rtl="0">
              <a:lnSpc>
                <a:spcPct val="115833"/>
              </a:lnSpc>
              <a:spcBef>
                <a:spcPts val="800"/>
              </a:spcBef>
              <a:spcAft>
                <a:spcPts val="0"/>
              </a:spcAft>
              <a:buClr>
                <a:schemeClr val="dk1"/>
              </a:buClr>
              <a:buSzPts val="1500"/>
              <a:buFont typeface="Aptos"/>
              <a:buChar char="●"/>
            </a:pPr>
            <a:r>
              <a:rPr lang="en" sz="1500">
                <a:solidFill>
                  <a:schemeClr val="dk1"/>
                </a:solidFill>
                <a:latin typeface="Aptos"/>
                <a:ea typeface="Aptos"/>
                <a:cs typeface="Aptos"/>
                <a:sym typeface="Aptos"/>
              </a:rPr>
              <a:t>With cogeneration and heat recovery, efficiency from a traditional process can go from 64% up to 80%. The benefits of improving efficiency through cogeneration, includes reducing costs significantly on electricity and fuels (natural gas and fuel oil) used in the processes. </a:t>
            </a:r>
            <a:endParaRPr sz="1500">
              <a:solidFill>
                <a:schemeClr val="dk1"/>
              </a:solidFill>
              <a:latin typeface="Aptos"/>
              <a:ea typeface="Aptos"/>
              <a:cs typeface="Aptos"/>
              <a:sym typeface="Aptos"/>
            </a:endParaRPr>
          </a:p>
          <a:p>
            <a:pPr marL="457200" lvl="0" indent="-323850" algn="l" rtl="0">
              <a:lnSpc>
                <a:spcPct val="115833"/>
              </a:lnSpc>
              <a:spcBef>
                <a:spcPts val="800"/>
              </a:spcBef>
              <a:spcAft>
                <a:spcPts val="800"/>
              </a:spcAft>
              <a:buClr>
                <a:schemeClr val="dk1"/>
              </a:buClr>
              <a:buSzPts val="1500"/>
              <a:buFont typeface="Aptos"/>
              <a:buChar char="●"/>
            </a:pPr>
            <a:r>
              <a:rPr lang="en" sz="1500">
                <a:solidFill>
                  <a:schemeClr val="dk1"/>
                </a:solidFill>
                <a:latin typeface="Aptos"/>
                <a:ea typeface="Aptos"/>
                <a:cs typeface="Aptos"/>
                <a:sym typeface="Aptos"/>
              </a:rPr>
              <a:t>There is a potential for PEMEX to generate 4,500 MW through cogeneration by 2030. However, to achieve this target, clear operation rules from CRE and private investments should be in place. </a:t>
            </a:r>
            <a:r>
              <a:rPr lang="en" sz="1000">
                <a:solidFill>
                  <a:schemeClr val="dk1"/>
                </a:solidFill>
                <a:latin typeface="Aptos"/>
                <a:ea typeface="Aptos"/>
                <a:cs typeface="Aptos"/>
                <a:sym typeface="Aptos"/>
              </a:rPr>
              <a:t>(not modeled)</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CAS Industrial Policies (1)</a:t>
            </a:r>
            <a:endParaRPr b="1" dirty="0"/>
          </a:p>
        </p:txBody>
      </p:sp>
      <p:sp>
        <p:nvSpPr>
          <p:cNvPr id="114" name="Google Shape;114;p23"/>
          <p:cNvSpPr txBox="1">
            <a:spLocks noGrp="1"/>
          </p:cNvSpPr>
          <p:nvPr>
            <p:ph type="body" idx="1"/>
          </p:nvPr>
        </p:nvSpPr>
        <p:spPr>
          <a:xfrm>
            <a:off x="311700" y="1152475"/>
            <a:ext cx="8520600" cy="3822900"/>
          </a:xfrm>
          <a:prstGeom prst="rect">
            <a:avLst/>
          </a:prstGeom>
        </p:spPr>
        <p:txBody>
          <a:bodyPr spcFirstLastPara="1" wrap="square" lIns="91425" tIns="91425" rIns="91425" bIns="91425" anchor="t" anchorCtr="0">
            <a:normAutofit/>
          </a:bodyPr>
          <a:lstStyle/>
          <a:p>
            <a:pPr marL="0" lvl="0" indent="0" algn="l" rtl="0">
              <a:lnSpc>
                <a:spcPct val="115833"/>
              </a:lnSpc>
              <a:spcBef>
                <a:spcPts val="0"/>
              </a:spcBef>
              <a:spcAft>
                <a:spcPts val="0"/>
              </a:spcAft>
              <a:buNone/>
            </a:pPr>
            <a:r>
              <a:rPr lang="en" sz="1400">
                <a:solidFill>
                  <a:schemeClr val="dk1"/>
                </a:solidFill>
                <a:latin typeface="Aptos"/>
                <a:ea typeface="Aptos"/>
                <a:cs typeface="Aptos"/>
                <a:sym typeface="Aptos"/>
              </a:rPr>
              <a:t>Industrial policies in the Climate Ambition Scenario include:</a:t>
            </a:r>
            <a:endParaRPr sz="1400">
              <a:solidFill>
                <a:schemeClr val="dk1"/>
              </a:solidFill>
              <a:latin typeface="Aptos"/>
              <a:ea typeface="Aptos"/>
              <a:cs typeface="Aptos"/>
              <a:sym typeface="Aptos"/>
            </a:endParaRPr>
          </a:p>
          <a:p>
            <a:pPr marL="457200" lvl="0" indent="-317500" algn="l" rtl="0">
              <a:lnSpc>
                <a:spcPct val="115833"/>
              </a:lnSpc>
              <a:spcBef>
                <a:spcPts val="800"/>
              </a:spcBef>
              <a:spcAft>
                <a:spcPts val="0"/>
              </a:spcAft>
              <a:buClr>
                <a:schemeClr val="dk1"/>
              </a:buClr>
              <a:buSzPts val="1400"/>
              <a:buFont typeface="Aptos"/>
              <a:buChar char="●"/>
            </a:pPr>
            <a:r>
              <a:rPr lang="en" sz="1400">
                <a:solidFill>
                  <a:schemeClr val="dk1"/>
                </a:solidFill>
                <a:latin typeface="Aptos"/>
                <a:ea typeface="Aptos"/>
                <a:cs typeface="Aptos"/>
                <a:sym typeface="Aptos"/>
              </a:rPr>
              <a:t>Changing cement production inputs to reduce “clinker” emissions.</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Energy savings from early retirement of inefficient industrial facilities, whose output is assume to be replace by other existing or new facilities (15% by 2050).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Implementation of Mexico’s Kigali Amendment pledge with policies on F-gas destruction and substitution (80% target by 2045).</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Electrification of the manufacturing and chemical industries up to 60% by 2050.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Use of hydrogen as an alternative fuel in steel, cement, manufacturing, chemical, mining, and oil &amp; gas industries up to 40% by 2050.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Cogeneration and waste heat recovery up to 75%.</a:t>
            </a:r>
            <a:endParaRPr>
              <a:solidFill>
                <a:schemeClr val="dk1"/>
              </a:solidFill>
              <a:latin typeface="Aptos"/>
              <a:ea typeface="Aptos"/>
              <a:cs typeface="Aptos"/>
              <a:sym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CAS Industrial Policies (2)</a:t>
            </a:r>
            <a:endParaRPr/>
          </a:p>
        </p:txBody>
      </p:sp>
      <p:sp>
        <p:nvSpPr>
          <p:cNvPr id="120" name="Google Shape;12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Increasing consumption of goods produced in Mexico (“Buy Mexican”), instead of importing:</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a:solidFill>
                  <a:schemeClr val="dk1"/>
                </a:solidFill>
                <a:latin typeface="Aptos"/>
                <a:ea typeface="Aptos"/>
                <a:cs typeface="Aptos"/>
                <a:sym typeface="Aptos"/>
              </a:rPr>
              <a:t>Chemicals (10%)</a:t>
            </a:r>
            <a:endParaRPr>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a:solidFill>
                  <a:schemeClr val="dk1"/>
                </a:solidFill>
                <a:latin typeface="Aptos"/>
                <a:ea typeface="Aptos"/>
                <a:cs typeface="Aptos"/>
                <a:sym typeface="Aptos"/>
              </a:rPr>
              <a:t>Food beverage and tobacco (20%)</a:t>
            </a:r>
            <a:endParaRPr>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a:solidFill>
                  <a:schemeClr val="dk1"/>
                </a:solidFill>
                <a:latin typeface="Aptos"/>
                <a:ea typeface="Aptos"/>
                <a:cs typeface="Aptos"/>
                <a:sym typeface="Aptos"/>
              </a:rPr>
              <a:t>Other mining and quarrying (10%)</a:t>
            </a:r>
            <a:endParaRPr>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a:solidFill>
                  <a:schemeClr val="dk1"/>
                </a:solidFill>
                <a:latin typeface="Aptos"/>
                <a:ea typeface="Aptos"/>
                <a:cs typeface="Aptos"/>
                <a:sym typeface="Aptos"/>
              </a:rPr>
              <a:t>Refined petroleum (10%)</a:t>
            </a:r>
            <a:endParaRPr>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a:solidFill>
                  <a:schemeClr val="dk1"/>
                </a:solidFill>
                <a:latin typeface="Aptos"/>
                <a:ea typeface="Aptos"/>
                <a:cs typeface="Aptos"/>
                <a:sym typeface="Aptos"/>
              </a:rPr>
              <a:t>Textiles (10%)</a:t>
            </a:r>
            <a:endParaRPr>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a:solidFill>
                  <a:schemeClr val="dk1"/>
                </a:solidFill>
                <a:latin typeface="Aptos"/>
                <a:ea typeface="Aptos"/>
                <a:cs typeface="Aptos"/>
                <a:sym typeface="Aptos"/>
              </a:rPr>
              <a:t>Cements (20%)</a:t>
            </a:r>
            <a:endParaRPr>
              <a:solidFill>
                <a:schemeClr val="dk1"/>
              </a:solidFill>
              <a:latin typeface="Aptos"/>
              <a:ea typeface="Aptos"/>
              <a:cs typeface="Aptos"/>
              <a:sym typeface="Aptos"/>
            </a:endParaRPr>
          </a:p>
          <a:p>
            <a:pPr marL="457200" lvl="0" indent="-342900" algn="l" rtl="0">
              <a:lnSpc>
                <a:spcPct val="115833"/>
              </a:lnSpc>
              <a:spcBef>
                <a:spcPts val="0"/>
              </a:spcBef>
              <a:spcAft>
                <a:spcPts val="0"/>
              </a:spcAft>
              <a:buClr>
                <a:schemeClr val="dk1"/>
              </a:buClr>
              <a:buSzPts val="1800"/>
              <a:buFont typeface="Aptos"/>
              <a:buChar char="●"/>
            </a:pPr>
            <a:r>
              <a:rPr lang="en">
                <a:solidFill>
                  <a:schemeClr val="dk1"/>
                </a:solidFill>
                <a:latin typeface="Aptos"/>
                <a:ea typeface="Aptos"/>
                <a:cs typeface="Aptos"/>
                <a:sym typeface="Aptos"/>
              </a:rPr>
              <a:t>Implement carbon capture and storage (CCS) in particular industries:</a:t>
            </a:r>
            <a:endParaRPr>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Natural gas nonpeaker </a:t>
            </a:r>
            <a:r>
              <a:rPr lang="en">
                <a:solidFill>
                  <a:schemeClr val="dk1"/>
                </a:solidFill>
                <a:latin typeface="Aptos"/>
                <a:ea typeface="Aptos"/>
                <a:cs typeface="Aptos"/>
                <a:sym typeface="Aptos"/>
              </a:rPr>
              <a:t>(</a:t>
            </a:r>
            <a:r>
              <a:rPr lang="en" sz="1400">
                <a:solidFill>
                  <a:schemeClr val="dk1"/>
                </a:solidFill>
                <a:latin typeface="Aptos"/>
                <a:ea typeface="Aptos"/>
                <a:cs typeface="Aptos"/>
                <a:sym typeface="Aptos"/>
              </a:rPr>
              <a:t>45%)</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Gas peaker (45%)</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Cement and other nonmetallic minerals </a:t>
            </a:r>
            <a:r>
              <a:rPr lang="en">
                <a:solidFill>
                  <a:schemeClr val="dk1"/>
                </a:solidFill>
                <a:latin typeface="Aptos"/>
                <a:ea typeface="Aptos"/>
                <a:cs typeface="Aptos"/>
                <a:sym typeface="Aptos"/>
              </a:rPr>
              <a:t>(</a:t>
            </a:r>
            <a:r>
              <a:rPr lang="en" sz="1400">
                <a:solidFill>
                  <a:schemeClr val="dk1"/>
                </a:solidFill>
                <a:latin typeface="Aptos"/>
                <a:ea typeface="Aptos"/>
                <a:cs typeface="Aptos"/>
                <a:sym typeface="Aptos"/>
              </a:rPr>
              <a:t>90%)</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Chemicals </a:t>
            </a:r>
            <a:r>
              <a:rPr lang="en">
                <a:solidFill>
                  <a:schemeClr val="dk1"/>
                </a:solidFill>
                <a:latin typeface="Aptos"/>
                <a:ea typeface="Aptos"/>
                <a:cs typeface="Aptos"/>
                <a:sym typeface="Aptos"/>
              </a:rPr>
              <a:t>(</a:t>
            </a:r>
            <a:r>
              <a:rPr lang="en" sz="1400">
                <a:solidFill>
                  <a:schemeClr val="dk1"/>
                </a:solidFill>
                <a:latin typeface="Aptos"/>
                <a:ea typeface="Aptos"/>
                <a:cs typeface="Aptos"/>
                <a:sym typeface="Aptos"/>
              </a:rPr>
              <a:t>70%)</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Iron and steel </a:t>
            </a:r>
            <a:r>
              <a:rPr lang="en">
                <a:solidFill>
                  <a:schemeClr val="dk1"/>
                </a:solidFill>
                <a:latin typeface="Aptos"/>
                <a:ea typeface="Aptos"/>
                <a:cs typeface="Aptos"/>
                <a:sym typeface="Aptos"/>
              </a:rPr>
              <a:t>(</a:t>
            </a:r>
            <a:r>
              <a:rPr lang="en" sz="1400">
                <a:solidFill>
                  <a:schemeClr val="dk1"/>
                </a:solidFill>
                <a:latin typeface="Aptos"/>
                <a:ea typeface="Aptos"/>
                <a:cs typeface="Aptos"/>
                <a:sym typeface="Aptos"/>
              </a:rPr>
              <a:t>90%)</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Manufacturing </a:t>
            </a:r>
            <a:r>
              <a:rPr lang="en">
                <a:solidFill>
                  <a:schemeClr val="dk1"/>
                </a:solidFill>
                <a:latin typeface="Aptos"/>
                <a:ea typeface="Aptos"/>
                <a:cs typeface="Aptos"/>
                <a:sym typeface="Aptos"/>
              </a:rPr>
              <a:t>(</a:t>
            </a:r>
            <a:r>
              <a:rPr lang="en" sz="1400">
                <a:solidFill>
                  <a:schemeClr val="dk1"/>
                </a:solidFill>
                <a:latin typeface="Aptos"/>
                <a:ea typeface="Aptos"/>
                <a:cs typeface="Aptos"/>
                <a:sym typeface="Aptos"/>
              </a:rPr>
              <a:t>40%)</a:t>
            </a:r>
            <a:endParaRPr sz="1400">
              <a:solidFill>
                <a:schemeClr val="dk1"/>
              </a:solidFill>
              <a:latin typeface="Aptos"/>
              <a:ea typeface="Aptos"/>
              <a:cs typeface="Aptos"/>
              <a:sym typeface="Aptos"/>
            </a:endParaRPr>
          </a:p>
          <a:p>
            <a:pPr marL="914400" lvl="1"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Petroleum and coke refining </a:t>
            </a:r>
            <a:r>
              <a:rPr lang="en">
                <a:solidFill>
                  <a:schemeClr val="dk1"/>
                </a:solidFill>
                <a:latin typeface="Aptos"/>
                <a:ea typeface="Aptos"/>
                <a:cs typeface="Aptos"/>
                <a:sym typeface="Aptos"/>
              </a:rPr>
              <a:t>(</a:t>
            </a:r>
            <a:r>
              <a:rPr lang="en" sz="1400">
                <a:solidFill>
                  <a:schemeClr val="dk1"/>
                </a:solidFill>
                <a:latin typeface="Aptos"/>
                <a:ea typeface="Aptos"/>
                <a:cs typeface="Aptos"/>
                <a:sym typeface="Aptos"/>
              </a:rPr>
              <a:t>90%)</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CAS Industry - Equipment Efficiency Standards &amp; CCS</a:t>
            </a:r>
            <a:endParaRPr b="1"/>
          </a:p>
        </p:txBody>
      </p:sp>
      <p:sp>
        <p:nvSpPr>
          <p:cNvPr id="126" name="Google Shape;126;p25"/>
          <p:cNvSpPr txBox="1">
            <a:spLocks noGrp="1"/>
          </p:cNvSpPr>
          <p:nvPr>
            <p:ph type="body" idx="1"/>
          </p:nvPr>
        </p:nvSpPr>
        <p:spPr>
          <a:xfrm>
            <a:off x="311700" y="1152475"/>
            <a:ext cx="3953700" cy="3416400"/>
          </a:xfrm>
          <a:prstGeom prst="rect">
            <a:avLst/>
          </a:prstGeom>
        </p:spPr>
        <p:txBody>
          <a:bodyPr spcFirstLastPara="1" wrap="square" lIns="91425" tIns="91425" rIns="91425" bIns="91425" anchor="t" anchorCtr="0">
            <a:normAutofit/>
          </a:bodyPr>
          <a:lstStyle/>
          <a:p>
            <a:pPr marL="0" lvl="0" indent="0" algn="l" rtl="0">
              <a:lnSpc>
                <a:spcPct val="115833"/>
              </a:lnSpc>
              <a:spcBef>
                <a:spcPts val="0"/>
              </a:spcBef>
              <a:spcAft>
                <a:spcPts val="0"/>
              </a:spcAft>
              <a:buNone/>
            </a:pPr>
            <a:r>
              <a:rPr lang="en" sz="1400" b="1">
                <a:solidFill>
                  <a:schemeClr val="dk1"/>
                </a:solidFill>
                <a:latin typeface="Aptos"/>
                <a:ea typeface="Aptos"/>
                <a:cs typeface="Aptos"/>
                <a:sym typeface="Aptos"/>
              </a:rPr>
              <a:t>Improvement in equipment efficiency standards</a:t>
            </a:r>
            <a:endParaRPr sz="1400" b="1">
              <a:solidFill>
                <a:schemeClr val="dk1"/>
              </a:solidFill>
              <a:latin typeface="Aptos"/>
              <a:ea typeface="Aptos"/>
              <a:cs typeface="Aptos"/>
              <a:sym typeface="Aptos"/>
            </a:endParaRPr>
          </a:p>
          <a:p>
            <a:pPr marL="457200" lvl="0" indent="-317500" algn="l" rtl="0">
              <a:lnSpc>
                <a:spcPct val="115833"/>
              </a:lnSpc>
              <a:spcBef>
                <a:spcPts val="800"/>
              </a:spcBef>
              <a:spcAft>
                <a:spcPts val="0"/>
              </a:spcAft>
              <a:buClr>
                <a:schemeClr val="dk1"/>
              </a:buClr>
              <a:buSzPts val="1400"/>
              <a:buFont typeface="Aptos"/>
              <a:buChar char="●"/>
            </a:pPr>
            <a:r>
              <a:rPr lang="en" sz="1400">
                <a:solidFill>
                  <a:schemeClr val="dk1"/>
                </a:solidFill>
                <a:latin typeface="Aptos"/>
                <a:ea typeface="Aptos"/>
                <a:cs typeface="Aptos"/>
                <a:sym typeface="Aptos"/>
              </a:rPr>
              <a:t>Agricultural processes - 50%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Cement and other non-metallic minerals + mining - 40%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Chemicals - 10%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Coal mining - 30%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Construction 20%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Pipelines and gas processing - 30%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Food and manufacturing - 30%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Iron and steel 30%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Petroleum and coke refining 25%</a:t>
            </a:r>
            <a:endParaRPr>
              <a:solidFill>
                <a:schemeClr val="dk1"/>
              </a:solidFill>
              <a:latin typeface="Aptos"/>
              <a:ea typeface="Aptos"/>
              <a:cs typeface="Aptos"/>
              <a:sym typeface="Aptos"/>
            </a:endParaRPr>
          </a:p>
          <a:p>
            <a:pPr marL="0" lvl="0" indent="0" algn="l" rtl="0">
              <a:spcBef>
                <a:spcPts val="800"/>
              </a:spcBef>
              <a:spcAft>
                <a:spcPts val="1200"/>
              </a:spcAft>
              <a:buNone/>
            </a:pPr>
            <a:endParaRPr/>
          </a:p>
        </p:txBody>
      </p:sp>
      <p:sp>
        <p:nvSpPr>
          <p:cNvPr id="127" name="Google Shape;127;p25"/>
          <p:cNvSpPr txBox="1">
            <a:spLocks noGrp="1"/>
          </p:cNvSpPr>
          <p:nvPr>
            <p:ph type="body" idx="1"/>
          </p:nvPr>
        </p:nvSpPr>
        <p:spPr>
          <a:xfrm>
            <a:off x="4400925" y="1211650"/>
            <a:ext cx="4572000" cy="3416400"/>
          </a:xfrm>
          <a:prstGeom prst="rect">
            <a:avLst/>
          </a:prstGeom>
        </p:spPr>
        <p:txBody>
          <a:bodyPr spcFirstLastPara="1" wrap="square" lIns="91425" tIns="91425" rIns="91425" bIns="91425" anchor="t" anchorCtr="0">
            <a:normAutofit/>
          </a:bodyPr>
          <a:lstStyle/>
          <a:p>
            <a:pPr marL="0" lvl="0" indent="0" algn="l" rtl="0">
              <a:lnSpc>
                <a:spcPct val="115833"/>
              </a:lnSpc>
              <a:spcBef>
                <a:spcPts val="0"/>
              </a:spcBef>
              <a:spcAft>
                <a:spcPts val="0"/>
              </a:spcAft>
              <a:buNone/>
            </a:pPr>
            <a:r>
              <a:rPr lang="en" sz="1400" b="1">
                <a:solidFill>
                  <a:schemeClr val="dk1"/>
                </a:solidFill>
                <a:latin typeface="Aptos"/>
                <a:ea typeface="Aptos"/>
                <a:cs typeface="Aptos"/>
                <a:sym typeface="Aptos"/>
              </a:rPr>
              <a:t>CCS to start implementation for key industries in 2035:</a:t>
            </a:r>
            <a:endParaRPr sz="1400" b="1">
              <a:solidFill>
                <a:schemeClr val="dk1"/>
              </a:solidFill>
              <a:latin typeface="Aptos"/>
              <a:ea typeface="Aptos"/>
              <a:cs typeface="Aptos"/>
              <a:sym typeface="Aptos"/>
            </a:endParaRPr>
          </a:p>
          <a:p>
            <a:pPr marL="457200" lvl="0" indent="-317500" algn="l" rtl="0">
              <a:lnSpc>
                <a:spcPct val="115833"/>
              </a:lnSpc>
              <a:spcBef>
                <a:spcPts val="800"/>
              </a:spcBef>
              <a:spcAft>
                <a:spcPts val="0"/>
              </a:spcAft>
              <a:buClr>
                <a:schemeClr val="dk1"/>
              </a:buClr>
              <a:buSzPts val="1400"/>
              <a:buFont typeface="Aptos"/>
              <a:buChar char="●"/>
            </a:pPr>
            <a:r>
              <a:rPr lang="en" sz="1400">
                <a:solidFill>
                  <a:schemeClr val="dk1"/>
                </a:solidFill>
                <a:latin typeface="Aptos"/>
                <a:ea typeface="Aptos"/>
                <a:cs typeface="Aptos"/>
                <a:sym typeface="Aptos"/>
              </a:rPr>
              <a:t>Natural gas nonpeaker - 45%</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Gas peaker - 45%</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Cement and other nonmetallic minerals - 90%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Chemicals - 70%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Iron and steel - 90%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Manufacturing - 40%</a:t>
            </a:r>
            <a:endParaRPr sz="1400">
              <a:solidFill>
                <a:schemeClr val="dk1"/>
              </a:solidFill>
              <a:latin typeface="Aptos"/>
              <a:ea typeface="Aptos"/>
              <a:cs typeface="Aptos"/>
              <a:sym typeface="Aptos"/>
            </a:endParaRPr>
          </a:p>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Petroleum and coke refining - 90%</a:t>
            </a:r>
            <a:endParaRPr sz="1400">
              <a:solidFill>
                <a:schemeClr val="dk1"/>
              </a:solidFill>
              <a:latin typeface="Aptos"/>
              <a:ea typeface="Aptos"/>
              <a:cs typeface="Aptos"/>
              <a:sym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CAS Agriculture, Forestry, and Land Use (AFOLU)</a:t>
            </a:r>
            <a:endParaRPr b="1"/>
          </a:p>
        </p:txBody>
      </p:sp>
      <p:sp>
        <p:nvSpPr>
          <p:cNvPr id="133" name="Google Shape;133;p26"/>
          <p:cNvSpPr txBox="1">
            <a:spLocks noGrp="1"/>
          </p:cNvSpPr>
          <p:nvPr>
            <p:ph type="body" idx="1"/>
          </p:nvPr>
        </p:nvSpPr>
        <p:spPr>
          <a:xfrm>
            <a:off x="311700" y="1152475"/>
            <a:ext cx="8520600" cy="3491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385">
                <a:solidFill>
                  <a:schemeClr val="dk1"/>
                </a:solidFill>
                <a:latin typeface="Aptos"/>
                <a:ea typeface="Aptos"/>
                <a:cs typeface="Aptos"/>
                <a:sym typeface="Aptos"/>
              </a:rPr>
              <a:t>Agriculture, through livestock emissions, accounts for half of the country's methane emissions. The potential is estimated using a bottom-up approach, based on the characteristics of agricultural production units.</a:t>
            </a:r>
            <a:endParaRPr sz="1385">
              <a:solidFill>
                <a:schemeClr val="dk1"/>
              </a:solidFill>
              <a:latin typeface="Aptos"/>
              <a:ea typeface="Aptos"/>
              <a:cs typeface="Aptos"/>
              <a:sym typeface="Aptos"/>
            </a:endParaRPr>
          </a:p>
          <a:p>
            <a:pPr marL="457200" lvl="0" indent="-316547" algn="l" rtl="0">
              <a:lnSpc>
                <a:spcPct val="100000"/>
              </a:lnSpc>
              <a:spcBef>
                <a:spcPts val="800"/>
              </a:spcBef>
              <a:spcAft>
                <a:spcPts val="0"/>
              </a:spcAft>
              <a:buClr>
                <a:schemeClr val="dk1"/>
              </a:buClr>
              <a:buSzPts val="1385"/>
              <a:buFont typeface="Aptos"/>
              <a:buChar char="●"/>
            </a:pPr>
            <a:r>
              <a:rPr lang="en" sz="1385">
                <a:solidFill>
                  <a:schemeClr val="dk1"/>
                </a:solidFill>
                <a:latin typeface="Aptos"/>
                <a:ea typeface="Aptos"/>
                <a:cs typeface="Aptos"/>
                <a:sym typeface="Aptos"/>
              </a:rPr>
              <a:t>Policies to avoid methane release include promoting sustainable agriculture practices for crops and rice production. Addition policies help industry shift to sustainable livestock production.</a:t>
            </a:r>
            <a:endParaRPr sz="1385">
              <a:solidFill>
                <a:schemeClr val="dk1"/>
              </a:solidFill>
              <a:latin typeface="Aptos"/>
              <a:ea typeface="Aptos"/>
              <a:cs typeface="Aptos"/>
              <a:sym typeface="Aptos"/>
            </a:endParaRPr>
          </a:p>
          <a:p>
            <a:pPr marL="457200" lvl="0" indent="-316547" algn="l" rtl="0">
              <a:lnSpc>
                <a:spcPct val="100000"/>
              </a:lnSpc>
              <a:spcBef>
                <a:spcPts val="0"/>
              </a:spcBef>
              <a:spcAft>
                <a:spcPts val="0"/>
              </a:spcAft>
              <a:buClr>
                <a:schemeClr val="dk1"/>
              </a:buClr>
              <a:buSzPts val="1385"/>
              <a:buFont typeface="Aptos"/>
              <a:buChar char="●"/>
            </a:pPr>
            <a:r>
              <a:rPr lang="en" sz="1385">
                <a:solidFill>
                  <a:schemeClr val="dk1"/>
                </a:solidFill>
                <a:latin typeface="Aptos"/>
                <a:ea typeface="Aptos"/>
                <a:cs typeface="Aptos"/>
                <a:sym typeface="Aptos"/>
              </a:rPr>
              <a:t>Forest management improvement and reforestation policies are expanding with ambitious goals by 2050.</a:t>
            </a:r>
            <a:endParaRPr sz="1385">
              <a:solidFill>
                <a:schemeClr val="dk1"/>
              </a:solidFill>
              <a:latin typeface="Aptos"/>
              <a:ea typeface="Aptos"/>
              <a:cs typeface="Aptos"/>
              <a:sym typeface="Aptos"/>
            </a:endParaRPr>
          </a:p>
          <a:p>
            <a:pPr marL="914400" lvl="1" indent="-316547" algn="l" rtl="0">
              <a:lnSpc>
                <a:spcPct val="100000"/>
              </a:lnSpc>
              <a:spcBef>
                <a:spcPts val="0"/>
              </a:spcBef>
              <a:spcAft>
                <a:spcPts val="0"/>
              </a:spcAft>
              <a:buClr>
                <a:schemeClr val="dk1"/>
              </a:buClr>
              <a:buSzPts val="1385"/>
              <a:buFont typeface="Aptos"/>
              <a:buChar char="○"/>
            </a:pPr>
            <a:r>
              <a:rPr lang="en" sz="1385">
                <a:solidFill>
                  <a:schemeClr val="dk1"/>
                </a:solidFill>
                <a:latin typeface="Aptos"/>
                <a:ea typeface="Aptos"/>
                <a:cs typeface="Aptos"/>
                <a:sym typeface="Aptos"/>
              </a:rPr>
              <a:t>Natural Protected Areas (forest-set aside) → 32.89 million hectares</a:t>
            </a:r>
            <a:endParaRPr sz="1385">
              <a:solidFill>
                <a:schemeClr val="dk1"/>
              </a:solidFill>
              <a:latin typeface="Aptos"/>
              <a:ea typeface="Aptos"/>
              <a:cs typeface="Aptos"/>
              <a:sym typeface="Aptos"/>
            </a:endParaRPr>
          </a:p>
          <a:p>
            <a:pPr marL="914400" lvl="1" indent="-316547" algn="l" rtl="0">
              <a:lnSpc>
                <a:spcPct val="100000"/>
              </a:lnSpc>
              <a:spcBef>
                <a:spcPts val="0"/>
              </a:spcBef>
              <a:spcAft>
                <a:spcPts val="0"/>
              </a:spcAft>
              <a:buClr>
                <a:schemeClr val="dk1"/>
              </a:buClr>
              <a:buSzPts val="1385"/>
              <a:buFont typeface="Aptos"/>
              <a:buChar char="○"/>
            </a:pPr>
            <a:r>
              <a:rPr lang="en" sz="1385">
                <a:solidFill>
                  <a:schemeClr val="dk1"/>
                </a:solidFill>
                <a:latin typeface="Aptos"/>
                <a:ea typeface="Aptos"/>
                <a:cs typeface="Aptos"/>
                <a:sym typeface="Aptos"/>
              </a:rPr>
              <a:t>Reforestation → 7.04 million hectares</a:t>
            </a:r>
            <a:endParaRPr sz="1385">
              <a:solidFill>
                <a:schemeClr val="dk1"/>
              </a:solidFill>
              <a:latin typeface="Aptos"/>
              <a:ea typeface="Aptos"/>
              <a:cs typeface="Aptos"/>
              <a:sym typeface="Aptos"/>
            </a:endParaRPr>
          </a:p>
          <a:p>
            <a:pPr marL="914400" lvl="1" indent="-316547" algn="l" rtl="0">
              <a:lnSpc>
                <a:spcPct val="100000"/>
              </a:lnSpc>
              <a:spcBef>
                <a:spcPts val="0"/>
              </a:spcBef>
              <a:spcAft>
                <a:spcPts val="0"/>
              </a:spcAft>
              <a:buClr>
                <a:schemeClr val="dk1"/>
              </a:buClr>
              <a:buSzPts val="1385"/>
              <a:buFont typeface="Aptos"/>
              <a:buChar char="○"/>
            </a:pPr>
            <a:r>
              <a:rPr lang="en" sz="1385">
                <a:solidFill>
                  <a:schemeClr val="dk1"/>
                </a:solidFill>
                <a:latin typeface="Aptos"/>
                <a:ea typeface="Aptos"/>
                <a:cs typeface="Aptos"/>
                <a:sym typeface="Aptos"/>
              </a:rPr>
              <a:t>Forest management improvement → 20.60 million hectares</a:t>
            </a:r>
            <a:endParaRPr sz="1385">
              <a:solidFill>
                <a:schemeClr val="dk1"/>
              </a:solidFill>
              <a:latin typeface="Aptos"/>
              <a:ea typeface="Aptos"/>
              <a:cs typeface="Aptos"/>
              <a:sym typeface="Aptos"/>
            </a:endParaRPr>
          </a:p>
          <a:p>
            <a:pPr marL="457200" lvl="0" indent="-316547" algn="l" rtl="0">
              <a:lnSpc>
                <a:spcPct val="100000"/>
              </a:lnSpc>
              <a:spcBef>
                <a:spcPts val="0"/>
              </a:spcBef>
              <a:spcAft>
                <a:spcPts val="0"/>
              </a:spcAft>
              <a:buClr>
                <a:schemeClr val="dk1"/>
              </a:buClr>
              <a:buSzPts val="1385"/>
              <a:buFont typeface="Aptos"/>
              <a:buChar char="●"/>
            </a:pPr>
            <a:r>
              <a:rPr lang="en" sz="1385">
                <a:solidFill>
                  <a:schemeClr val="dk1"/>
                </a:solidFill>
                <a:latin typeface="Aptos"/>
                <a:ea typeface="Aptos"/>
                <a:cs typeface="Aptos"/>
                <a:sym typeface="Aptos"/>
              </a:rPr>
              <a:t>Deforestation emissions are reduced by 70%. </a:t>
            </a:r>
            <a:endParaRPr sz="1385">
              <a:solidFill>
                <a:schemeClr val="dk1"/>
              </a:solidFill>
              <a:latin typeface="Aptos"/>
              <a:ea typeface="Aptos"/>
              <a:cs typeface="Aptos"/>
              <a:sym typeface="Aptos"/>
            </a:endParaRPr>
          </a:p>
          <a:p>
            <a:pPr marL="457200" lvl="0" indent="-316547" algn="l" rtl="0">
              <a:lnSpc>
                <a:spcPct val="100000"/>
              </a:lnSpc>
              <a:spcBef>
                <a:spcPts val="0"/>
              </a:spcBef>
              <a:spcAft>
                <a:spcPts val="0"/>
              </a:spcAft>
              <a:buClr>
                <a:schemeClr val="dk1"/>
              </a:buClr>
              <a:buSzPts val="1385"/>
              <a:buFont typeface="Aptos"/>
              <a:buChar char="●"/>
            </a:pPr>
            <a:r>
              <a:rPr lang="en" sz="1385">
                <a:solidFill>
                  <a:schemeClr val="dk1"/>
                </a:solidFill>
                <a:latin typeface="Aptos"/>
                <a:ea typeface="Aptos"/>
                <a:cs typeface="Aptos"/>
                <a:sym typeface="Aptos"/>
              </a:rPr>
              <a:t>Finally, CAS assumes that 15% of animal products are shifted to non-animal products by 2050, meaning that, on average, society consumes less dairy and meat.</a:t>
            </a:r>
            <a:endParaRPr sz="1185">
              <a:solidFill>
                <a:schemeClr val="dk1"/>
              </a:solidFill>
              <a:latin typeface="Aptos"/>
              <a:ea typeface="Aptos"/>
              <a:cs typeface="Aptos"/>
              <a:sym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CAS Waste Sector Policies</a:t>
            </a:r>
            <a:endParaRPr b="1"/>
          </a:p>
        </p:txBody>
      </p:sp>
      <p:sp>
        <p:nvSpPr>
          <p:cNvPr id="139" name="Google Shape;139;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lnSpc>
                <a:spcPct val="115833"/>
              </a:lnSpc>
              <a:spcBef>
                <a:spcPts val="0"/>
              </a:spcBef>
              <a:spcAft>
                <a:spcPts val="0"/>
              </a:spcAft>
              <a:buClr>
                <a:schemeClr val="dk1"/>
              </a:buClr>
              <a:buSzPts val="1400"/>
              <a:buFont typeface="Aptos"/>
              <a:buChar char="●"/>
            </a:pPr>
            <a:r>
              <a:rPr lang="en" sz="1400">
                <a:solidFill>
                  <a:schemeClr val="dk1"/>
                </a:solidFill>
                <a:latin typeface="Aptos"/>
                <a:ea typeface="Aptos"/>
                <a:cs typeface="Aptos"/>
                <a:sym typeface="Aptos"/>
              </a:rPr>
              <a:t>The waste sector accounts for 28% of Mexico’s methane emissions today.</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In the CAS scenario, we considered that all of the waste sector methane emissions are captured by 2050. </a:t>
            </a:r>
            <a:endParaRPr sz="1400">
              <a:solidFill>
                <a:schemeClr val="dk1"/>
              </a:solidFill>
              <a:latin typeface="Aptos"/>
              <a:ea typeface="Aptos"/>
              <a:cs typeface="Aptos"/>
              <a:sym typeface="Aptos"/>
            </a:endParaRPr>
          </a:p>
          <a:p>
            <a:pPr marL="914400" lvl="1"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Gas flaring is no longer considered a good practice internationally, so the regulation should include eliminating this process, which is still very common in Mexico, as well as the closing of landfills that do not comply with the infrastructure to operate according to NOM-163.</a:t>
            </a:r>
            <a:endParaRPr>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Waste heat recovery is set at 75%.</a:t>
            </a:r>
            <a:endParaRPr sz="1400">
              <a:solidFill>
                <a:schemeClr val="dk1"/>
              </a:solidFill>
              <a:latin typeface="Aptos"/>
              <a:ea typeface="Aptos"/>
              <a:cs typeface="Aptos"/>
              <a:sym typeface="Aptos"/>
            </a:endParaRPr>
          </a:p>
          <a:p>
            <a:pPr marL="457200" lvl="0" indent="-317500" algn="l" rtl="0">
              <a:lnSpc>
                <a:spcPct val="115833"/>
              </a:lnSpc>
              <a:spcBef>
                <a:spcPts val="1000"/>
              </a:spcBef>
              <a:spcAft>
                <a:spcPts val="0"/>
              </a:spcAft>
              <a:buClr>
                <a:schemeClr val="dk1"/>
              </a:buClr>
              <a:buSzPts val="1400"/>
              <a:buFont typeface="Aptos"/>
              <a:buChar char="●"/>
            </a:pPr>
            <a:r>
              <a:rPr lang="en" sz="1400">
                <a:solidFill>
                  <a:schemeClr val="dk1"/>
                </a:solidFill>
                <a:latin typeface="Aptos"/>
                <a:ea typeface="Aptos"/>
                <a:cs typeface="Aptos"/>
                <a:sym typeface="Aptos"/>
              </a:rPr>
              <a:t>Additionally, N2O abatement measures are taken, since it has a warming potential 273 bigger than CO2. This GHG is produced by some waste water treatment processes, such as active sludge.</a:t>
            </a:r>
            <a:endParaRPr sz="1400">
              <a:solidFill>
                <a:schemeClr val="dk1"/>
              </a:solidFill>
              <a:latin typeface="Aptos"/>
              <a:ea typeface="Aptos"/>
              <a:cs typeface="Aptos"/>
              <a:sym typeface="Aptos"/>
            </a:endParaRPr>
          </a:p>
          <a:p>
            <a:pPr marL="0" lvl="0" indent="0" algn="l" rtl="0">
              <a:spcBef>
                <a:spcPts val="10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dirty="0"/>
              <a:t>Modeling Results</a:t>
            </a:r>
            <a:endParaRP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5" name="Picture 4" descr="A graph showing the amount of emission in the total ghg emissions&#10;&#10;Description automatically generated">
            <a:extLst>
              <a:ext uri="{FF2B5EF4-FFF2-40B4-BE49-F238E27FC236}">
                <a16:creationId xmlns:a16="http://schemas.microsoft.com/office/drawing/2014/main" id="{29578160-F08D-59FE-1C40-C8E5A0F5F3DC}"/>
              </a:ext>
            </a:extLst>
          </p:cNvPr>
          <p:cNvPicPr>
            <a:picLocks noChangeAspect="1"/>
          </p:cNvPicPr>
          <p:nvPr/>
        </p:nvPicPr>
        <p:blipFill>
          <a:blip r:embed="rId3"/>
          <a:srcRect r="16580"/>
          <a:stretch/>
        </p:blipFill>
        <p:spPr>
          <a:xfrm>
            <a:off x="141668" y="1"/>
            <a:ext cx="4114744" cy="3649508"/>
          </a:xfrm>
          <a:prstGeom prst="rect">
            <a:avLst/>
          </a:prstGeom>
        </p:spPr>
      </p:pic>
      <p:pic>
        <p:nvPicPr>
          <p:cNvPr id="9" name="Picture 8" descr="A graph showing the amount of emission&#10;&#10;Description automatically generated">
            <a:extLst>
              <a:ext uri="{FF2B5EF4-FFF2-40B4-BE49-F238E27FC236}">
                <a16:creationId xmlns:a16="http://schemas.microsoft.com/office/drawing/2014/main" id="{8D13E6D8-BD42-411E-E128-C3DA932687B0}"/>
              </a:ext>
            </a:extLst>
          </p:cNvPr>
          <p:cNvPicPr>
            <a:picLocks noChangeAspect="1"/>
          </p:cNvPicPr>
          <p:nvPr/>
        </p:nvPicPr>
        <p:blipFill>
          <a:blip r:embed="rId4"/>
          <a:stretch>
            <a:fillRect/>
          </a:stretch>
        </p:blipFill>
        <p:spPr>
          <a:xfrm>
            <a:off x="4385882" y="1"/>
            <a:ext cx="4758117" cy="3649508"/>
          </a:xfrm>
          <a:prstGeom prst="rect">
            <a:avLst/>
          </a:prstGeom>
        </p:spPr>
      </p:pic>
      <p:sp>
        <p:nvSpPr>
          <p:cNvPr id="11" name="Google Shape;155;p30">
            <a:extLst>
              <a:ext uri="{FF2B5EF4-FFF2-40B4-BE49-F238E27FC236}">
                <a16:creationId xmlns:a16="http://schemas.microsoft.com/office/drawing/2014/main" id="{C53BE50D-85B6-F5DC-C002-C20CE58EA887}"/>
              </a:ext>
            </a:extLst>
          </p:cNvPr>
          <p:cNvSpPr txBox="1">
            <a:spLocks noGrp="1"/>
          </p:cNvSpPr>
          <p:nvPr>
            <p:ph type="title"/>
          </p:nvPr>
        </p:nvSpPr>
        <p:spPr>
          <a:xfrm>
            <a:off x="1405248" y="1392748"/>
            <a:ext cx="92326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50" b="1" dirty="0">
                <a:solidFill>
                  <a:srgbClr val="00B050"/>
                </a:solidFill>
              </a:rPr>
              <a:t>17.3% decrease in emissions by 2030</a:t>
            </a:r>
            <a:endParaRPr sz="1050" b="1" dirty="0">
              <a:solidFill>
                <a:srgbClr val="00B050"/>
              </a:solidFill>
            </a:endParaRPr>
          </a:p>
        </p:txBody>
      </p:sp>
      <p:sp>
        <p:nvSpPr>
          <p:cNvPr id="12" name="Google Shape;155;p30">
            <a:extLst>
              <a:ext uri="{FF2B5EF4-FFF2-40B4-BE49-F238E27FC236}">
                <a16:creationId xmlns:a16="http://schemas.microsoft.com/office/drawing/2014/main" id="{EB0B7BF9-5B69-549D-0E1E-9541895E6ED2}"/>
              </a:ext>
            </a:extLst>
          </p:cNvPr>
          <p:cNvSpPr txBox="1">
            <a:spLocks/>
          </p:cNvSpPr>
          <p:nvPr/>
        </p:nvSpPr>
        <p:spPr>
          <a:xfrm>
            <a:off x="3363522" y="2285400"/>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00B050"/>
                </a:solidFill>
              </a:rPr>
              <a:t>77.1% decrease in emissions by 2030</a:t>
            </a:r>
          </a:p>
        </p:txBody>
      </p:sp>
      <p:sp>
        <p:nvSpPr>
          <p:cNvPr id="13" name="Google Shape;155;p30">
            <a:extLst>
              <a:ext uri="{FF2B5EF4-FFF2-40B4-BE49-F238E27FC236}">
                <a16:creationId xmlns:a16="http://schemas.microsoft.com/office/drawing/2014/main" id="{EE069BBE-558F-1369-2891-F88106BBB436}"/>
              </a:ext>
            </a:extLst>
          </p:cNvPr>
          <p:cNvSpPr txBox="1">
            <a:spLocks/>
          </p:cNvSpPr>
          <p:nvPr/>
        </p:nvSpPr>
        <p:spPr>
          <a:xfrm>
            <a:off x="3333148" y="921291"/>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C00000"/>
                </a:solidFill>
              </a:rPr>
              <a:t>12.6% decrease in emissions by 2030</a:t>
            </a:r>
          </a:p>
        </p:txBody>
      </p:sp>
      <p:sp>
        <p:nvSpPr>
          <p:cNvPr id="14" name="Google Shape;155;p30">
            <a:extLst>
              <a:ext uri="{FF2B5EF4-FFF2-40B4-BE49-F238E27FC236}">
                <a16:creationId xmlns:a16="http://schemas.microsoft.com/office/drawing/2014/main" id="{3ED8E959-13BB-58E3-8B2C-CA8EDB03E2EC}"/>
              </a:ext>
            </a:extLst>
          </p:cNvPr>
          <p:cNvSpPr txBox="1">
            <a:spLocks/>
          </p:cNvSpPr>
          <p:nvPr/>
        </p:nvSpPr>
        <p:spPr>
          <a:xfrm>
            <a:off x="1445934" y="348591"/>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C00000"/>
                </a:solidFill>
              </a:rPr>
              <a:t>0.7% decrease in emissions by 2030</a:t>
            </a:r>
          </a:p>
        </p:txBody>
      </p:sp>
      <p:sp>
        <p:nvSpPr>
          <p:cNvPr id="15" name="Google Shape;155;p30">
            <a:extLst>
              <a:ext uri="{FF2B5EF4-FFF2-40B4-BE49-F238E27FC236}">
                <a16:creationId xmlns:a16="http://schemas.microsoft.com/office/drawing/2014/main" id="{31AEEBC3-A63F-E969-7D5E-093BA6C9B7D9}"/>
              </a:ext>
            </a:extLst>
          </p:cNvPr>
          <p:cNvSpPr txBox="1">
            <a:spLocks/>
          </p:cNvSpPr>
          <p:nvPr/>
        </p:nvSpPr>
        <p:spPr>
          <a:xfrm>
            <a:off x="5546884" y="436255"/>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C00000"/>
                </a:solidFill>
              </a:rPr>
              <a:t>0.5% decrease in emissions by 2030</a:t>
            </a:r>
          </a:p>
        </p:txBody>
      </p:sp>
      <p:sp>
        <p:nvSpPr>
          <p:cNvPr id="16" name="Google Shape;155;p30">
            <a:extLst>
              <a:ext uri="{FF2B5EF4-FFF2-40B4-BE49-F238E27FC236}">
                <a16:creationId xmlns:a16="http://schemas.microsoft.com/office/drawing/2014/main" id="{0DC34DC7-CEF2-DBE6-2AFC-2A9F5F4ADE74}"/>
              </a:ext>
            </a:extLst>
          </p:cNvPr>
          <p:cNvSpPr txBox="1">
            <a:spLocks/>
          </p:cNvSpPr>
          <p:nvPr/>
        </p:nvSpPr>
        <p:spPr>
          <a:xfrm>
            <a:off x="7507289" y="820048"/>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C00000"/>
                </a:solidFill>
              </a:rPr>
              <a:t>9.2% decrease in emissions by 2030</a:t>
            </a:r>
          </a:p>
        </p:txBody>
      </p:sp>
      <p:sp>
        <p:nvSpPr>
          <p:cNvPr id="17" name="Google Shape;155;p30">
            <a:extLst>
              <a:ext uri="{FF2B5EF4-FFF2-40B4-BE49-F238E27FC236}">
                <a16:creationId xmlns:a16="http://schemas.microsoft.com/office/drawing/2014/main" id="{F95C2CE3-DB65-136D-EB3E-5882D626DA41}"/>
              </a:ext>
            </a:extLst>
          </p:cNvPr>
          <p:cNvSpPr txBox="1">
            <a:spLocks/>
          </p:cNvSpPr>
          <p:nvPr/>
        </p:nvSpPr>
        <p:spPr>
          <a:xfrm>
            <a:off x="5519992" y="1441668"/>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00B050"/>
                </a:solidFill>
              </a:rPr>
              <a:t>16.9% decrease in emissions by 2030</a:t>
            </a:r>
          </a:p>
        </p:txBody>
      </p:sp>
      <p:sp>
        <p:nvSpPr>
          <p:cNvPr id="18" name="Google Shape;155;p30">
            <a:extLst>
              <a:ext uri="{FF2B5EF4-FFF2-40B4-BE49-F238E27FC236}">
                <a16:creationId xmlns:a16="http://schemas.microsoft.com/office/drawing/2014/main" id="{B05BFF28-0B85-B71E-76C6-2826797DBCC9}"/>
              </a:ext>
            </a:extLst>
          </p:cNvPr>
          <p:cNvSpPr txBox="1">
            <a:spLocks/>
          </p:cNvSpPr>
          <p:nvPr/>
        </p:nvSpPr>
        <p:spPr>
          <a:xfrm>
            <a:off x="7478266" y="2130302"/>
            <a:ext cx="92326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050" b="1" dirty="0">
                <a:solidFill>
                  <a:srgbClr val="00B050"/>
                </a:solidFill>
              </a:rPr>
              <a:t>66.9% decrease in emissions by 2030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94634B66-7336-ADF4-651E-F4B6E1363545}"/>
            </a:ext>
          </a:extLst>
        </p:cNvPr>
        <p:cNvGrpSpPr/>
        <p:nvPr/>
      </p:nvGrpSpPr>
      <p:grpSpPr>
        <a:xfrm>
          <a:off x="0" y="0"/>
          <a:ext cx="0" cy="0"/>
          <a:chOff x="0" y="0"/>
          <a:chExt cx="0" cy="0"/>
        </a:xfrm>
      </p:grpSpPr>
      <p:pic>
        <p:nvPicPr>
          <p:cNvPr id="4" name="Picture 3" descr="A graph of different colored lines&#10;&#10;Description automatically generated">
            <a:extLst>
              <a:ext uri="{FF2B5EF4-FFF2-40B4-BE49-F238E27FC236}">
                <a16:creationId xmlns:a16="http://schemas.microsoft.com/office/drawing/2014/main" id="{F3D229F8-FB11-A8B9-E018-F1373E431360}"/>
              </a:ext>
            </a:extLst>
          </p:cNvPr>
          <p:cNvPicPr>
            <a:picLocks noChangeAspect="1"/>
          </p:cNvPicPr>
          <p:nvPr/>
        </p:nvPicPr>
        <p:blipFill rotWithShape="1">
          <a:blip r:embed="rId3"/>
          <a:srcRect l="1559" r="35909"/>
          <a:stretch/>
        </p:blipFill>
        <p:spPr>
          <a:xfrm>
            <a:off x="54706" y="44450"/>
            <a:ext cx="2891692" cy="2714381"/>
          </a:xfrm>
          <a:prstGeom prst="rect">
            <a:avLst/>
          </a:prstGeom>
        </p:spPr>
      </p:pic>
      <p:pic>
        <p:nvPicPr>
          <p:cNvPr id="7" name="Picture 6" descr="A graph of expert and the number of companies&#10;&#10;Description automatically generated with medium confidence">
            <a:extLst>
              <a:ext uri="{FF2B5EF4-FFF2-40B4-BE49-F238E27FC236}">
                <a16:creationId xmlns:a16="http://schemas.microsoft.com/office/drawing/2014/main" id="{49560C55-4160-DA3E-FC5E-53A264DB97AD}"/>
              </a:ext>
            </a:extLst>
          </p:cNvPr>
          <p:cNvPicPr>
            <a:picLocks noChangeAspect="1"/>
          </p:cNvPicPr>
          <p:nvPr/>
        </p:nvPicPr>
        <p:blipFill rotWithShape="1">
          <a:blip r:embed="rId4"/>
          <a:srcRect l="1081" r="36144"/>
          <a:stretch/>
        </p:blipFill>
        <p:spPr>
          <a:xfrm>
            <a:off x="2954213" y="44450"/>
            <a:ext cx="2993291" cy="2714380"/>
          </a:xfrm>
          <a:prstGeom prst="rect">
            <a:avLst/>
          </a:prstGeom>
        </p:spPr>
      </p:pic>
      <p:pic>
        <p:nvPicPr>
          <p:cNvPr id="10" name="Picture 9" descr="A graph showing different colored lines&#10;&#10;Description automatically generated">
            <a:extLst>
              <a:ext uri="{FF2B5EF4-FFF2-40B4-BE49-F238E27FC236}">
                <a16:creationId xmlns:a16="http://schemas.microsoft.com/office/drawing/2014/main" id="{99ED564F-F276-CE22-DBB0-F8309D705842}"/>
              </a:ext>
            </a:extLst>
          </p:cNvPr>
          <p:cNvPicPr>
            <a:picLocks noChangeAspect="1"/>
          </p:cNvPicPr>
          <p:nvPr/>
        </p:nvPicPr>
        <p:blipFill rotWithShape="1">
          <a:blip r:embed="rId5"/>
          <a:srcRect l="2264" t="1612" r="36583" b="2833"/>
          <a:stretch/>
        </p:blipFill>
        <p:spPr>
          <a:xfrm>
            <a:off x="5963135" y="44450"/>
            <a:ext cx="2594711" cy="3112965"/>
          </a:xfrm>
          <a:prstGeom prst="rect">
            <a:avLst/>
          </a:prstGeom>
        </p:spPr>
      </p:pic>
      <p:pic>
        <p:nvPicPr>
          <p:cNvPr id="20" name="Picture 19" descr="A graph showing different colored lines&#10;&#10;Description automatically generated">
            <a:extLst>
              <a:ext uri="{FF2B5EF4-FFF2-40B4-BE49-F238E27FC236}">
                <a16:creationId xmlns:a16="http://schemas.microsoft.com/office/drawing/2014/main" id="{DAC378ED-08D6-D036-9DCC-5468435645B2}"/>
              </a:ext>
            </a:extLst>
          </p:cNvPr>
          <p:cNvPicPr>
            <a:picLocks noChangeAspect="1"/>
          </p:cNvPicPr>
          <p:nvPr/>
        </p:nvPicPr>
        <p:blipFill rotWithShape="1">
          <a:blip r:embed="rId5"/>
          <a:srcRect l="63820" t="22665" r="3702" b="27921"/>
          <a:stretch/>
        </p:blipFill>
        <p:spPr>
          <a:xfrm>
            <a:off x="3677138" y="2954216"/>
            <a:ext cx="1789723" cy="1281722"/>
          </a:xfrm>
          <a:prstGeom prst="rect">
            <a:avLst/>
          </a:prstGeom>
        </p:spPr>
      </p:pic>
    </p:spTree>
    <p:extLst>
      <p:ext uri="{BB962C8B-B14F-4D97-AF65-F5344CB8AC3E}">
        <p14:creationId xmlns:p14="http://schemas.microsoft.com/office/powerpoint/2010/main" val="2010538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79426AB1-84A6-1AEF-CE03-4C76AAE222F3}"/>
            </a:ext>
          </a:extLst>
        </p:cNvPr>
        <p:cNvGrpSpPr/>
        <p:nvPr/>
      </p:nvGrpSpPr>
      <p:grpSpPr>
        <a:xfrm>
          <a:off x="0" y="0"/>
          <a:ext cx="0" cy="0"/>
          <a:chOff x="0" y="0"/>
          <a:chExt cx="0" cy="0"/>
        </a:xfrm>
      </p:grpSpPr>
      <p:pic>
        <p:nvPicPr>
          <p:cNvPr id="3" name="Picture 2" descr="A pie chart showing different types of energy&#10;&#10;Description automatically generated">
            <a:extLst>
              <a:ext uri="{FF2B5EF4-FFF2-40B4-BE49-F238E27FC236}">
                <a16:creationId xmlns:a16="http://schemas.microsoft.com/office/drawing/2014/main" id="{F8CE5F94-259A-2642-22B9-5103CDFCF7BD}"/>
              </a:ext>
            </a:extLst>
          </p:cNvPr>
          <p:cNvPicPr>
            <a:picLocks noChangeAspect="1"/>
          </p:cNvPicPr>
          <p:nvPr/>
        </p:nvPicPr>
        <p:blipFill rotWithShape="1">
          <a:blip r:embed="rId3"/>
          <a:srcRect l="13041" r="33767" b="2460"/>
          <a:stretch/>
        </p:blipFill>
        <p:spPr>
          <a:xfrm>
            <a:off x="375137" y="138235"/>
            <a:ext cx="2172677" cy="2433514"/>
          </a:xfrm>
          <a:prstGeom prst="rect">
            <a:avLst/>
          </a:prstGeom>
        </p:spPr>
      </p:pic>
      <p:pic>
        <p:nvPicPr>
          <p:cNvPr id="6" name="Picture 5" descr="A diagram of a solar energy expert&#10;&#10;Description automatically generated with medium confidence">
            <a:extLst>
              <a:ext uri="{FF2B5EF4-FFF2-40B4-BE49-F238E27FC236}">
                <a16:creationId xmlns:a16="http://schemas.microsoft.com/office/drawing/2014/main" id="{9CC8C04F-741D-6FB2-62F4-F66ABC50ECBB}"/>
              </a:ext>
            </a:extLst>
          </p:cNvPr>
          <p:cNvPicPr>
            <a:picLocks noChangeAspect="1"/>
          </p:cNvPicPr>
          <p:nvPr/>
        </p:nvPicPr>
        <p:blipFill rotWithShape="1">
          <a:blip r:embed="rId4"/>
          <a:srcRect l="13047" r="33842" b="2460"/>
          <a:stretch/>
        </p:blipFill>
        <p:spPr>
          <a:xfrm>
            <a:off x="2618152" y="138234"/>
            <a:ext cx="2172677" cy="2433515"/>
          </a:xfrm>
          <a:prstGeom prst="rect">
            <a:avLst/>
          </a:prstGeom>
        </p:spPr>
      </p:pic>
      <p:pic>
        <p:nvPicPr>
          <p:cNvPr id="9" name="Picture 8" descr="A diagram of a solar energy source&#10;&#10;Description automatically generated">
            <a:extLst>
              <a:ext uri="{FF2B5EF4-FFF2-40B4-BE49-F238E27FC236}">
                <a16:creationId xmlns:a16="http://schemas.microsoft.com/office/drawing/2014/main" id="{7C7CD23D-C312-5C48-BE36-EEE127C3B4CF}"/>
              </a:ext>
            </a:extLst>
          </p:cNvPr>
          <p:cNvPicPr>
            <a:picLocks noChangeAspect="1"/>
          </p:cNvPicPr>
          <p:nvPr/>
        </p:nvPicPr>
        <p:blipFill rotWithShape="1">
          <a:blip r:embed="rId5"/>
          <a:srcRect l="12940" r="34068" b="2628"/>
          <a:stretch/>
        </p:blipFill>
        <p:spPr>
          <a:xfrm>
            <a:off x="4861167" y="138235"/>
            <a:ext cx="2172677" cy="2433515"/>
          </a:xfrm>
          <a:prstGeom prst="rect">
            <a:avLst/>
          </a:prstGeom>
        </p:spPr>
      </p:pic>
      <p:pic>
        <p:nvPicPr>
          <p:cNvPr id="12" name="Picture 11" descr="A diagram of different types of energy&#10;&#10;Description automatically generated">
            <a:extLst>
              <a:ext uri="{FF2B5EF4-FFF2-40B4-BE49-F238E27FC236}">
                <a16:creationId xmlns:a16="http://schemas.microsoft.com/office/drawing/2014/main" id="{0717538A-3F9D-F51C-3417-6F576C6C50E3}"/>
              </a:ext>
            </a:extLst>
          </p:cNvPr>
          <p:cNvPicPr>
            <a:picLocks noChangeAspect="1"/>
          </p:cNvPicPr>
          <p:nvPr/>
        </p:nvPicPr>
        <p:blipFill rotWithShape="1">
          <a:blip r:embed="rId6"/>
          <a:srcRect l="13141" r="33968" b="2628"/>
          <a:stretch/>
        </p:blipFill>
        <p:spPr>
          <a:xfrm>
            <a:off x="375137" y="2571751"/>
            <a:ext cx="2243015" cy="2516064"/>
          </a:xfrm>
          <a:prstGeom prst="rect">
            <a:avLst/>
          </a:prstGeom>
        </p:spPr>
      </p:pic>
      <p:pic>
        <p:nvPicPr>
          <p:cNvPr id="14" name="Picture 13" descr="A pie chart of energy sources&#10;&#10;Description automatically generated">
            <a:extLst>
              <a:ext uri="{FF2B5EF4-FFF2-40B4-BE49-F238E27FC236}">
                <a16:creationId xmlns:a16="http://schemas.microsoft.com/office/drawing/2014/main" id="{D96236D6-FBC0-52B8-C079-AD70A2615DB9}"/>
              </a:ext>
            </a:extLst>
          </p:cNvPr>
          <p:cNvPicPr>
            <a:picLocks noChangeAspect="1"/>
          </p:cNvPicPr>
          <p:nvPr/>
        </p:nvPicPr>
        <p:blipFill rotWithShape="1">
          <a:blip r:embed="rId7"/>
          <a:srcRect l="13041" r="33968" b="2963"/>
          <a:stretch/>
        </p:blipFill>
        <p:spPr>
          <a:xfrm>
            <a:off x="2688490" y="2571749"/>
            <a:ext cx="2243015" cy="2516064"/>
          </a:xfrm>
          <a:prstGeom prst="rect">
            <a:avLst/>
          </a:prstGeom>
        </p:spPr>
      </p:pic>
      <p:pic>
        <p:nvPicPr>
          <p:cNvPr id="16" name="Picture 15" descr="A diagram of different types of energy&#10;&#10;Description automatically generated">
            <a:extLst>
              <a:ext uri="{FF2B5EF4-FFF2-40B4-BE49-F238E27FC236}">
                <a16:creationId xmlns:a16="http://schemas.microsoft.com/office/drawing/2014/main" id="{91B115E7-FD1F-B817-AF1D-E09DC7DAE643}"/>
              </a:ext>
            </a:extLst>
          </p:cNvPr>
          <p:cNvPicPr>
            <a:picLocks noChangeAspect="1"/>
          </p:cNvPicPr>
          <p:nvPr/>
        </p:nvPicPr>
        <p:blipFill rotWithShape="1">
          <a:blip r:embed="rId8"/>
          <a:srcRect l="12839" r="33466" b="2628"/>
          <a:stretch/>
        </p:blipFill>
        <p:spPr>
          <a:xfrm>
            <a:off x="5033106" y="2571749"/>
            <a:ext cx="2243014" cy="2516064"/>
          </a:xfrm>
          <a:prstGeom prst="rect">
            <a:avLst/>
          </a:prstGeom>
        </p:spPr>
      </p:pic>
      <p:pic>
        <p:nvPicPr>
          <p:cNvPr id="18" name="Picture 17" descr="A pie chart of energy sources&#10;&#10;Description automatically generated">
            <a:extLst>
              <a:ext uri="{FF2B5EF4-FFF2-40B4-BE49-F238E27FC236}">
                <a16:creationId xmlns:a16="http://schemas.microsoft.com/office/drawing/2014/main" id="{A8B086BC-98D6-8531-ADC2-B9F7FFCEE4F2}"/>
              </a:ext>
            </a:extLst>
          </p:cNvPr>
          <p:cNvPicPr>
            <a:picLocks noChangeAspect="1"/>
          </p:cNvPicPr>
          <p:nvPr/>
        </p:nvPicPr>
        <p:blipFill rotWithShape="1">
          <a:blip r:embed="rId9"/>
          <a:srcRect l="74679" t="32716" r="3400" b="24738"/>
          <a:stretch/>
        </p:blipFill>
        <p:spPr>
          <a:xfrm>
            <a:off x="7401170" y="1813656"/>
            <a:ext cx="1367693" cy="1516186"/>
          </a:xfrm>
          <a:prstGeom prst="rect">
            <a:avLst/>
          </a:prstGeom>
        </p:spPr>
      </p:pic>
    </p:spTree>
    <p:extLst>
      <p:ext uri="{BB962C8B-B14F-4D97-AF65-F5344CB8AC3E}">
        <p14:creationId xmlns:p14="http://schemas.microsoft.com/office/powerpoint/2010/main" val="3934273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204EDA83-C205-D8C9-8856-206422464182}"/>
            </a:ext>
          </a:extLst>
        </p:cNvPr>
        <p:cNvGrpSpPr/>
        <p:nvPr/>
      </p:nvGrpSpPr>
      <p:grpSpPr>
        <a:xfrm>
          <a:off x="0" y="0"/>
          <a:ext cx="0" cy="0"/>
          <a:chOff x="0" y="0"/>
          <a:chExt cx="0" cy="0"/>
        </a:xfrm>
      </p:grpSpPr>
      <p:pic>
        <p:nvPicPr>
          <p:cNvPr id="4" name="Picture 3" descr="A graph showing the number of companies in the industry&#10;&#10;Description automatically generated with medium confidence">
            <a:extLst>
              <a:ext uri="{FF2B5EF4-FFF2-40B4-BE49-F238E27FC236}">
                <a16:creationId xmlns:a16="http://schemas.microsoft.com/office/drawing/2014/main" id="{35B40920-4295-8B56-0E99-B6552423CD8F}"/>
              </a:ext>
            </a:extLst>
          </p:cNvPr>
          <p:cNvPicPr>
            <a:picLocks noChangeAspect="1"/>
          </p:cNvPicPr>
          <p:nvPr/>
        </p:nvPicPr>
        <p:blipFill>
          <a:blip r:embed="rId3"/>
          <a:srcRect l="1538" t="2120" r="5473" b="3635"/>
          <a:stretch/>
        </p:blipFill>
        <p:spPr>
          <a:xfrm>
            <a:off x="426720" y="106680"/>
            <a:ext cx="4040405" cy="2766060"/>
          </a:xfrm>
          <a:prstGeom prst="rect">
            <a:avLst/>
          </a:prstGeom>
        </p:spPr>
      </p:pic>
      <p:pic>
        <p:nvPicPr>
          <p:cNvPr id="7" name="Picture 6" descr="A graph showing different colored lines&#10;&#10;Description automatically generated">
            <a:extLst>
              <a:ext uri="{FF2B5EF4-FFF2-40B4-BE49-F238E27FC236}">
                <a16:creationId xmlns:a16="http://schemas.microsoft.com/office/drawing/2014/main" id="{51C35E3E-1FD8-A18C-AE3B-664B2EEE739D}"/>
              </a:ext>
            </a:extLst>
          </p:cNvPr>
          <p:cNvPicPr>
            <a:picLocks noChangeAspect="1"/>
          </p:cNvPicPr>
          <p:nvPr/>
        </p:nvPicPr>
        <p:blipFill>
          <a:blip r:embed="rId4"/>
          <a:srcRect t="1975" r="4792" b="2680"/>
          <a:stretch/>
        </p:blipFill>
        <p:spPr>
          <a:xfrm>
            <a:off x="4571100" y="106681"/>
            <a:ext cx="4040405" cy="2766059"/>
          </a:xfrm>
          <a:prstGeom prst="rect">
            <a:avLst/>
          </a:prstGeom>
        </p:spPr>
      </p:pic>
      <p:sp>
        <p:nvSpPr>
          <p:cNvPr id="8" name="Rectangle 7">
            <a:extLst>
              <a:ext uri="{FF2B5EF4-FFF2-40B4-BE49-F238E27FC236}">
                <a16:creationId xmlns:a16="http://schemas.microsoft.com/office/drawing/2014/main" id="{9EA853AB-F77C-01F0-E805-AE3A361D8B30}"/>
              </a:ext>
            </a:extLst>
          </p:cNvPr>
          <p:cNvSpPr/>
          <p:nvPr/>
        </p:nvSpPr>
        <p:spPr>
          <a:xfrm>
            <a:off x="3003182" y="23622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Expert</a:t>
            </a:r>
          </a:p>
        </p:txBody>
      </p:sp>
      <p:sp>
        <p:nvSpPr>
          <p:cNvPr id="10" name="Rectangle 9">
            <a:extLst>
              <a:ext uri="{FF2B5EF4-FFF2-40B4-BE49-F238E27FC236}">
                <a16:creationId xmlns:a16="http://schemas.microsoft.com/office/drawing/2014/main" id="{8F1B8D1C-E4D7-FE1B-FDBA-6A044F6D597D}"/>
              </a:ext>
            </a:extLst>
          </p:cNvPr>
          <p:cNvSpPr/>
          <p:nvPr/>
        </p:nvSpPr>
        <p:spPr>
          <a:xfrm>
            <a:off x="7146657" y="23622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CAS</a:t>
            </a:r>
          </a:p>
        </p:txBody>
      </p:sp>
    </p:spTree>
    <p:extLst>
      <p:ext uri="{BB962C8B-B14F-4D97-AF65-F5344CB8AC3E}">
        <p14:creationId xmlns:p14="http://schemas.microsoft.com/office/powerpoint/2010/main" val="2004138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01658EEE-1796-5D30-5D43-2A05A816FF5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B95778C-B95D-1541-5BF7-14C83ED53E7B}"/>
              </a:ext>
            </a:extLst>
          </p:cNvPr>
          <p:cNvSpPr/>
          <p:nvPr/>
        </p:nvSpPr>
        <p:spPr>
          <a:xfrm>
            <a:off x="7146657" y="23622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CAS</a:t>
            </a:r>
          </a:p>
        </p:txBody>
      </p:sp>
      <p:pic>
        <p:nvPicPr>
          <p:cNvPr id="3" name="Picture 2" descr="A graph showing the number of companies in the industry&#10;&#10;Description automatically generated">
            <a:extLst>
              <a:ext uri="{FF2B5EF4-FFF2-40B4-BE49-F238E27FC236}">
                <a16:creationId xmlns:a16="http://schemas.microsoft.com/office/drawing/2014/main" id="{0E1B0372-5B9F-BB21-2856-261A60385AA8}"/>
              </a:ext>
            </a:extLst>
          </p:cNvPr>
          <p:cNvPicPr>
            <a:picLocks noChangeAspect="1"/>
          </p:cNvPicPr>
          <p:nvPr/>
        </p:nvPicPr>
        <p:blipFill>
          <a:blip r:embed="rId3"/>
          <a:stretch>
            <a:fillRect/>
          </a:stretch>
        </p:blipFill>
        <p:spPr>
          <a:xfrm>
            <a:off x="236220" y="158750"/>
            <a:ext cx="4335780" cy="2995930"/>
          </a:xfrm>
          <a:prstGeom prst="rect">
            <a:avLst/>
          </a:prstGeom>
        </p:spPr>
      </p:pic>
      <p:pic>
        <p:nvPicPr>
          <p:cNvPr id="6" name="Picture 5" descr="A graph showing the growth of the production of oil&#10;&#10;Description automatically generated with medium confidence">
            <a:extLst>
              <a:ext uri="{FF2B5EF4-FFF2-40B4-BE49-F238E27FC236}">
                <a16:creationId xmlns:a16="http://schemas.microsoft.com/office/drawing/2014/main" id="{F933430A-597D-1B7D-D826-BB1CD3FF7481}"/>
              </a:ext>
            </a:extLst>
          </p:cNvPr>
          <p:cNvPicPr>
            <a:picLocks noChangeAspect="1"/>
          </p:cNvPicPr>
          <p:nvPr/>
        </p:nvPicPr>
        <p:blipFill>
          <a:blip r:embed="rId4"/>
          <a:stretch>
            <a:fillRect/>
          </a:stretch>
        </p:blipFill>
        <p:spPr>
          <a:xfrm>
            <a:off x="4370972" y="236220"/>
            <a:ext cx="4335780" cy="2918460"/>
          </a:xfrm>
          <a:prstGeom prst="rect">
            <a:avLst/>
          </a:prstGeom>
        </p:spPr>
      </p:pic>
      <p:sp>
        <p:nvSpPr>
          <p:cNvPr id="9" name="Rectangle 8">
            <a:extLst>
              <a:ext uri="{FF2B5EF4-FFF2-40B4-BE49-F238E27FC236}">
                <a16:creationId xmlns:a16="http://schemas.microsoft.com/office/drawing/2014/main" id="{DC6C7860-EE6A-EA1B-B79C-A7FD4C289A47}"/>
              </a:ext>
            </a:extLst>
          </p:cNvPr>
          <p:cNvSpPr/>
          <p:nvPr/>
        </p:nvSpPr>
        <p:spPr>
          <a:xfrm>
            <a:off x="2810877" y="35814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Expert</a:t>
            </a:r>
          </a:p>
        </p:txBody>
      </p:sp>
      <p:sp>
        <p:nvSpPr>
          <p:cNvPr id="11" name="Rectangle 10">
            <a:extLst>
              <a:ext uri="{FF2B5EF4-FFF2-40B4-BE49-F238E27FC236}">
                <a16:creationId xmlns:a16="http://schemas.microsoft.com/office/drawing/2014/main" id="{30D65131-3874-FDD6-CF3B-7D7CBCC9B205}"/>
              </a:ext>
            </a:extLst>
          </p:cNvPr>
          <p:cNvSpPr/>
          <p:nvPr/>
        </p:nvSpPr>
        <p:spPr>
          <a:xfrm>
            <a:off x="6945629" y="35814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CAS</a:t>
            </a:r>
          </a:p>
        </p:txBody>
      </p:sp>
    </p:spTree>
    <p:extLst>
      <p:ext uri="{BB962C8B-B14F-4D97-AF65-F5344CB8AC3E}">
        <p14:creationId xmlns:p14="http://schemas.microsoft.com/office/powerpoint/2010/main" val="952947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0361C27E-4B7C-BDCA-BD12-21CB60B784E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F53B19-EDAC-9700-909D-C10C202D48B6}"/>
              </a:ext>
            </a:extLst>
          </p:cNvPr>
          <p:cNvSpPr/>
          <p:nvPr/>
        </p:nvSpPr>
        <p:spPr>
          <a:xfrm>
            <a:off x="1489710" y="38862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Expert</a:t>
            </a:r>
          </a:p>
        </p:txBody>
      </p:sp>
      <p:pic>
        <p:nvPicPr>
          <p:cNvPr id="4" name="Picture 3" descr="A graph showing the amount of energy in the company&#10;&#10;Description automatically generated with medium confidence">
            <a:extLst>
              <a:ext uri="{FF2B5EF4-FFF2-40B4-BE49-F238E27FC236}">
                <a16:creationId xmlns:a16="http://schemas.microsoft.com/office/drawing/2014/main" id="{30AFCBBD-8CF1-8E45-3DE3-2EF982876CE2}"/>
              </a:ext>
            </a:extLst>
          </p:cNvPr>
          <p:cNvPicPr>
            <a:picLocks noChangeAspect="1"/>
          </p:cNvPicPr>
          <p:nvPr/>
        </p:nvPicPr>
        <p:blipFill>
          <a:blip r:embed="rId3"/>
          <a:srcRect r="49851"/>
          <a:stretch/>
        </p:blipFill>
        <p:spPr>
          <a:xfrm>
            <a:off x="121920" y="586740"/>
            <a:ext cx="3246120" cy="2880360"/>
          </a:xfrm>
          <a:prstGeom prst="rect">
            <a:avLst/>
          </a:prstGeom>
        </p:spPr>
      </p:pic>
      <p:pic>
        <p:nvPicPr>
          <p:cNvPr id="7" name="Picture 6" descr="A graph showing the amount of energy in the united states&#10;&#10;Description automatically generated with medium confidence">
            <a:extLst>
              <a:ext uri="{FF2B5EF4-FFF2-40B4-BE49-F238E27FC236}">
                <a16:creationId xmlns:a16="http://schemas.microsoft.com/office/drawing/2014/main" id="{F2E4C817-907C-886B-D04B-5573B24D74AA}"/>
              </a:ext>
            </a:extLst>
          </p:cNvPr>
          <p:cNvPicPr>
            <a:picLocks noChangeAspect="1"/>
          </p:cNvPicPr>
          <p:nvPr/>
        </p:nvPicPr>
        <p:blipFill>
          <a:blip r:embed="rId4"/>
          <a:srcRect r="49921"/>
          <a:stretch/>
        </p:blipFill>
        <p:spPr>
          <a:xfrm>
            <a:off x="3368040" y="586740"/>
            <a:ext cx="3162300" cy="2933700"/>
          </a:xfrm>
          <a:prstGeom prst="rect">
            <a:avLst/>
          </a:prstGeom>
        </p:spPr>
      </p:pic>
      <p:sp>
        <p:nvSpPr>
          <p:cNvPr id="8" name="Rectangle 7">
            <a:extLst>
              <a:ext uri="{FF2B5EF4-FFF2-40B4-BE49-F238E27FC236}">
                <a16:creationId xmlns:a16="http://schemas.microsoft.com/office/drawing/2014/main" id="{B65F1A9A-E6E2-7F1A-59C6-14F69AC0FCF6}"/>
              </a:ext>
            </a:extLst>
          </p:cNvPr>
          <p:cNvSpPr/>
          <p:nvPr/>
        </p:nvSpPr>
        <p:spPr>
          <a:xfrm>
            <a:off x="4768215" y="38862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CAS</a:t>
            </a:r>
          </a:p>
        </p:txBody>
      </p:sp>
      <p:pic>
        <p:nvPicPr>
          <p:cNvPr id="13" name="Picture 12" descr="A graph showing the amount of energy in the united states&#10;&#10;Description automatically generated with medium confidence">
            <a:extLst>
              <a:ext uri="{FF2B5EF4-FFF2-40B4-BE49-F238E27FC236}">
                <a16:creationId xmlns:a16="http://schemas.microsoft.com/office/drawing/2014/main" id="{DAA62E59-3810-9A9F-F14C-6E31859BA0F9}"/>
              </a:ext>
            </a:extLst>
          </p:cNvPr>
          <p:cNvPicPr>
            <a:picLocks noChangeAspect="1"/>
          </p:cNvPicPr>
          <p:nvPr/>
        </p:nvPicPr>
        <p:blipFill>
          <a:blip r:embed="rId4"/>
          <a:srcRect l="49853" t="19625" r="4951" b="28276"/>
          <a:stretch/>
        </p:blipFill>
        <p:spPr>
          <a:xfrm>
            <a:off x="6614160" y="956310"/>
            <a:ext cx="2278380" cy="1786890"/>
          </a:xfrm>
          <a:prstGeom prst="rect">
            <a:avLst/>
          </a:prstGeom>
        </p:spPr>
      </p:pic>
    </p:spTree>
    <p:extLst>
      <p:ext uri="{BB962C8B-B14F-4D97-AF65-F5344CB8AC3E}">
        <p14:creationId xmlns:p14="http://schemas.microsoft.com/office/powerpoint/2010/main" val="3667239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296424B3-AA9B-9E62-041D-1F996A7C4F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654F893-1139-1729-1C91-5712BE0E3A8D}"/>
              </a:ext>
            </a:extLst>
          </p:cNvPr>
          <p:cNvSpPr/>
          <p:nvPr/>
        </p:nvSpPr>
        <p:spPr>
          <a:xfrm>
            <a:off x="1755456" y="41148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Expert</a:t>
            </a:r>
          </a:p>
        </p:txBody>
      </p:sp>
      <p:sp>
        <p:nvSpPr>
          <p:cNvPr id="8" name="Rectangle 7">
            <a:extLst>
              <a:ext uri="{FF2B5EF4-FFF2-40B4-BE49-F238E27FC236}">
                <a16:creationId xmlns:a16="http://schemas.microsoft.com/office/drawing/2014/main" id="{F54E13EF-84D2-DC77-AC05-80CC8173621A}"/>
              </a:ext>
            </a:extLst>
          </p:cNvPr>
          <p:cNvSpPr/>
          <p:nvPr/>
        </p:nvSpPr>
        <p:spPr>
          <a:xfrm>
            <a:off x="5713095" y="411480"/>
            <a:ext cx="91440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latin typeface="Aparajita" panose="020B0604020202020204" pitchFamily="34" charset="0"/>
                <a:cs typeface="Aparajita" panose="020B0604020202020204" pitchFamily="34" charset="0"/>
              </a:rPr>
              <a:t>CAS</a:t>
            </a:r>
          </a:p>
        </p:txBody>
      </p:sp>
      <p:pic>
        <p:nvPicPr>
          <p:cNvPr id="1026" name="Picture 2">
            <a:extLst>
              <a:ext uri="{FF2B5EF4-FFF2-40B4-BE49-F238E27FC236}">
                <a16:creationId xmlns:a16="http://schemas.microsoft.com/office/drawing/2014/main" id="{87AAF509-D022-8D22-034B-3B528D530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840" y="739140"/>
            <a:ext cx="4126230" cy="39243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graph showing the number of years&#10;&#10;Description automatically generated with medium confidence">
            <a:extLst>
              <a:ext uri="{FF2B5EF4-FFF2-40B4-BE49-F238E27FC236}">
                <a16:creationId xmlns:a16="http://schemas.microsoft.com/office/drawing/2014/main" id="{301D9151-967F-C839-F544-1CD8A15856CF}"/>
              </a:ext>
            </a:extLst>
          </p:cNvPr>
          <p:cNvPicPr>
            <a:picLocks noChangeAspect="1"/>
          </p:cNvPicPr>
          <p:nvPr/>
        </p:nvPicPr>
        <p:blipFill>
          <a:blip r:embed="rId4"/>
          <a:srcRect r="3904"/>
          <a:stretch/>
        </p:blipFill>
        <p:spPr>
          <a:xfrm>
            <a:off x="445770" y="2179320"/>
            <a:ext cx="4126230" cy="2552700"/>
          </a:xfrm>
          <a:prstGeom prst="rect">
            <a:avLst/>
          </a:prstGeom>
        </p:spPr>
      </p:pic>
      <p:sp>
        <p:nvSpPr>
          <p:cNvPr id="22" name="Rectangle 21">
            <a:extLst>
              <a:ext uri="{FF2B5EF4-FFF2-40B4-BE49-F238E27FC236}">
                <a16:creationId xmlns:a16="http://schemas.microsoft.com/office/drawing/2014/main" id="{59FD47A5-16B5-B4D9-E675-89B7435C2615}"/>
              </a:ext>
            </a:extLst>
          </p:cNvPr>
          <p:cNvSpPr/>
          <p:nvPr/>
        </p:nvSpPr>
        <p:spPr>
          <a:xfrm>
            <a:off x="1401126" y="1905000"/>
            <a:ext cx="1623060" cy="2743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b="1" dirty="0">
                <a:latin typeface="Cambria" panose="02040503050406030204" pitchFamily="18" charset="0"/>
                <a:cs typeface="Aparajita" panose="020B0604020202020204" pitchFamily="34" charset="0"/>
              </a:rPr>
              <a:t>Spending Intensification</a:t>
            </a:r>
          </a:p>
          <a:p>
            <a:pPr algn="ctr"/>
            <a:r>
              <a:rPr lang="en-US" sz="800" b="1" dirty="0">
                <a:latin typeface="Cambria" panose="02040503050406030204" pitchFamily="18" charset="0"/>
                <a:cs typeface="Aparajita" panose="020B0604020202020204" pitchFamily="34" charset="0"/>
              </a:rPr>
              <a:t>2026 - 2050</a:t>
            </a:r>
          </a:p>
        </p:txBody>
      </p:sp>
    </p:spTree>
    <p:extLst>
      <p:ext uri="{BB962C8B-B14F-4D97-AF65-F5344CB8AC3E}">
        <p14:creationId xmlns:p14="http://schemas.microsoft.com/office/powerpoint/2010/main" val="4127727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2BAA4C24-88C1-F192-C851-6AB05AD43EDD}"/>
            </a:ext>
          </a:extLst>
        </p:cNvPr>
        <p:cNvGrpSpPr/>
        <p:nvPr/>
      </p:nvGrpSpPr>
      <p:grpSpPr>
        <a:xfrm>
          <a:off x="0" y="0"/>
          <a:ext cx="0" cy="0"/>
          <a:chOff x="0" y="0"/>
          <a:chExt cx="0" cy="0"/>
        </a:xfrm>
      </p:grpSpPr>
      <p:pic>
        <p:nvPicPr>
          <p:cNvPr id="3" name="Picture 2" descr="A graph showing the cost of saving&#10;&#10;Description automatically generated">
            <a:extLst>
              <a:ext uri="{FF2B5EF4-FFF2-40B4-BE49-F238E27FC236}">
                <a16:creationId xmlns:a16="http://schemas.microsoft.com/office/drawing/2014/main" id="{FB5A3B7D-088C-C16E-4DD6-EF59362AB2A2}"/>
              </a:ext>
            </a:extLst>
          </p:cNvPr>
          <p:cNvPicPr>
            <a:picLocks noChangeAspect="1"/>
          </p:cNvPicPr>
          <p:nvPr/>
        </p:nvPicPr>
        <p:blipFill>
          <a:blip r:embed="rId3"/>
          <a:srcRect r="61693"/>
          <a:stretch/>
        </p:blipFill>
        <p:spPr>
          <a:xfrm>
            <a:off x="617220" y="868680"/>
            <a:ext cx="1927860" cy="2049780"/>
          </a:xfrm>
          <a:prstGeom prst="rect">
            <a:avLst/>
          </a:prstGeom>
        </p:spPr>
      </p:pic>
      <p:pic>
        <p:nvPicPr>
          <p:cNvPr id="5" name="Picture 4" descr="A graph showing the cost of saving&#10;&#10;Description automatically generated">
            <a:extLst>
              <a:ext uri="{FF2B5EF4-FFF2-40B4-BE49-F238E27FC236}">
                <a16:creationId xmlns:a16="http://schemas.microsoft.com/office/drawing/2014/main" id="{1E52E8A0-F674-98E7-FB19-A696A4A3811C}"/>
              </a:ext>
            </a:extLst>
          </p:cNvPr>
          <p:cNvPicPr>
            <a:picLocks noChangeAspect="1"/>
          </p:cNvPicPr>
          <p:nvPr/>
        </p:nvPicPr>
        <p:blipFill>
          <a:blip r:embed="rId4"/>
          <a:srcRect r="61723"/>
          <a:stretch/>
        </p:blipFill>
        <p:spPr>
          <a:xfrm>
            <a:off x="2880360" y="868680"/>
            <a:ext cx="1927860" cy="2049781"/>
          </a:xfrm>
          <a:prstGeom prst="rect">
            <a:avLst/>
          </a:prstGeom>
        </p:spPr>
      </p:pic>
      <p:pic>
        <p:nvPicPr>
          <p:cNvPr id="7" name="Picture 6" descr="A graph showing the cost of saving&#10;&#10;Description automatically generated">
            <a:extLst>
              <a:ext uri="{FF2B5EF4-FFF2-40B4-BE49-F238E27FC236}">
                <a16:creationId xmlns:a16="http://schemas.microsoft.com/office/drawing/2014/main" id="{19D63BB2-66CD-BA3B-16E6-EF66547CFE47}"/>
              </a:ext>
            </a:extLst>
          </p:cNvPr>
          <p:cNvPicPr>
            <a:picLocks noChangeAspect="1"/>
          </p:cNvPicPr>
          <p:nvPr/>
        </p:nvPicPr>
        <p:blipFill>
          <a:blip r:embed="rId4"/>
          <a:srcRect l="38014" t="29751" r="6007" b="40335"/>
          <a:stretch/>
        </p:blipFill>
        <p:spPr>
          <a:xfrm>
            <a:off x="1386840" y="2918460"/>
            <a:ext cx="2651760" cy="731521"/>
          </a:xfrm>
          <a:prstGeom prst="rect">
            <a:avLst/>
          </a:prstGeom>
        </p:spPr>
      </p:pic>
      <p:sp>
        <p:nvSpPr>
          <p:cNvPr id="10" name="Rectangle 9">
            <a:extLst>
              <a:ext uri="{FF2B5EF4-FFF2-40B4-BE49-F238E27FC236}">
                <a16:creationId xmlns:a16="http://schemas.microsoft.com/office/drawing/2014/main" id="{F767BA43-4659-5AB0-7411-181F46ADA037}"/>
              </a:ext>
            </a:extLst>
          </p:cNvPr>
          <p:cNvSpPr/>
          <p:nvPr/>
        </p:nvSpPr>
        <p:spPr>
          <a:xfrm>
            <a:off x="1386840" y="670559"/>
            <a:ext cx="914400" cy="198119"/>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parajita" panose="020B0604020202020204" pitchFamily="34" charset="0"/>
                <a:cs typeface="Aparajita" panose="020B0604020202020204" pitchFamily="34" charset="0"/>
              </a:rPr>
              <a:t>Expert</a:t>
            </a:r>
          </a:p>
        </p:txBody>
      </p:sp>
      <p:sp>
        <p:nvSpPr>
          <p:cNvPr id="11" name="Rectangle 10">
            <a:extLst>
              <a:ext uri="{FF2B5EF4-FFF2-40B4-BE49-F238E27FC236}">
                <a16:creationId xmlns:a16="http://schemas.microsoft.com/office/drawing/2014/main" id="{6BDF82B9-747E-132D-7202-6DE9C62222D3}"/>
              </a:ext>
            </a:extLst>
          </p:cNvPr>
          <p:cNvSpPr/>
          <p:nvPr/>
        </p:nvSpPr>
        <p:spPr>
          <a:xfrm>
            <a:off x="3581400" y="670559"/>
            <a:ext cx="914400" cy="19812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parajita" panose="020B0604020202020204" pitchFamily="34" charset="0"/>
                <a:cs typeface="Aparajita" panose="020B0604020202020204" pitchFamily="34" charset="0"/>
              </a:rPr>
              <a:t>CAS</a:t>
            </a:r>
          </a:p>
        </p:txBody>
      </p:sp>
    </p:spTree>
    <p:extLst>
      <p:ext uri="{BB962C8B-B14F-4D97-AF65-F5344CB8AC3E}">
        <p14:creationId xmlns:p14="http://schemas.microsoft.com/office/powerpoint/2010/main" val="2194667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D8C31E35-1BB2-C505-0C48-A8E5F8F945C4}"/>
            </a:ext>
          </a:extLst>
        </p:cNvPr>
        <p:cNvGrpSpPr/>
        <p:nvPr/>
      </p:nvGrpSpPr>
      <p:grpSpPr>
        <a:xfrm>
          <a:off x="0" y="0"/>
          <a:ext cx="0" cy="0"/>
          <a:chOff x="0" y="0"/>
          <a:chExt cx="0" cy="0"/>
        </a:xfrm>
      </p:grpSpPr>
      <p:sp>
        <p:nvSpPr>
          <p:cNvPr id="149" name="Google Shape;149;p29">
            <a:extLst>
              <a:ext uri="{FF2B5EF4-FFF2-40B4-BE49-F238E27FC236}">
                <a16:creationId xmlns:a16="http://schemas.microsoft.com/office/drawing/2014/main" id="{EE0DC8C8-4EFB-7CCD-F1FE-8C611F5391C2}"/>
              </a:ext>
            </a:extLst>
          </p:cNvPr>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Mexico’s Total CO2e Emissions</a:t>
            </a:r>
            <a:endParaRPr b="1" dirty="0"/>
          </a:p>
        </p:txBody>
      </p:sp>
      <p:pic>
        <p:nvPicPr>
          <p:cNvPr id="150" name="Google Shape;150;p29">
            <a:extLst>
              <a:ext uri="{FF2B5EF4-FFF2-40B4-BE49-F238E27FC236}">
                <a16:creationId xmlns:a16="http://schemas.microsoft.com/office/drawing/2014/main" id="{5A3D7804-EA50-C053-E46C-B14F5048D7F4}"/>
              </a:ext>
            </a:extLst>
          </p:cNvPr>
          <p:cNvPicPr preferRelativeResize="0"/>
          <p:nvPr/>
        </p:nvPicPr>
        <p:blipFill>
          <a:blip r:embed="rId3">
            <a:alphaModFix/>
          </a:blip>
          <a:stretch>
            <a:fillRect/>
          </a:stretch>
        </p:blipFill>
        <p:spPr>
          <a:xfrm>
            <a:off x="228150" y="790700"/>
            <a:ext cx="8432927" cy="4289376"/>
          </a:xfrm>
          <a:prstGeom prst="rect">
            <a:avLst/>
          </a:prstGeom>
          <a:noFill/>
          <a:ln>
            <a:noFill/>
          </a:ln>
        </p:spPr>
      </p:pic>
    </p:spTree>
    <p:extLst>
      <p:ext uri="{BB962C8B-B14F-4D97-AF65-F5344CB8AC3E}">
        <p14:creationId xmlns:p14="http://schemas.microsoft.com/office/powerpoint/2010/main" val="1923173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CO2e Emissions by Sector</a:t>
            </a:r>
            <a:endParaRPr b="1" dirty="0"/>
          </a:p>
        </p:txBody>
      </p:sp>
      <p:pic>
        <p:nvPicPr>
          <p:cNvPr id="156" name="Google Shape;156;p30"/>
          <p:cNvPicPr preferRelativeResize="0"/>
          <p:nvPr/>
        </p:nvPicPr>
        <p:blipFill>
          <a:blip r:embed="rId3">
            <a:alphaModFix/>
          </a:blip>
          <a:stretch>
            <a:fillRect/>
          </a:stretch>
        </p:blipFill>
        <p:spPr>
          <a:xfrm>
            <a:off x="754400" y="1170600"/>
            <a:ext cx="7609999" cy="3625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Electricity Generation Capacity - Renewables</a:t>
            </a:r>
            <a:endParaRPr b="1"/>
          </a:p>
        </p:txBody>
      </p:sp>
      <p:pic>
        <p:nvPicPr>
          <p:cNvPr id="162" name="Google Shape;162;p31"/>
          <p:cNvPicPr preferRelativeResize="0"/>
          <p:nvPr/>
        </p:nvPicPr>
        <p:blipFill>
          <a:blip r:embed="rId3">
            <a:alphaModFix/>
          </a:blip>
          <a:stretch>
            <a:fillRect/>
          </a:stretch>
        </p:blipFill>
        <p:spPr>
          <a:xfrm>
            <a:off x="638500" y="1291200"/>
            <a:ext cx="4182077" cy="3213799"/>
          </a:xfrm>
          <a:prstGeom prst="rect">
            <a:avLst/>
          </a:prstGeom>
          <a:noFill/>
          <a:ln>
            <a:noFill/>
          </a:ln>
        </p:spPr>
      </p:pic>
      <p:pic>
        <p:nvPicPr>
          <p:cNvPr id="163" name="Google Shape;163;p31"/>
          <p:cNvPicPr preferRelativeResize="0"/>
          <p:nvPr/>
        </p:nvPicPr>
        <p:blipFill>
          <a:blip r:embed="rId4">
            <a:alphaModFix/>
          </a:blip>
          <a:stretch>
            <a:fillRect/>
          </a:stretch>
        </p:blipFill>
        <p:spPr>
          <a:xfrm>
            <a:off x="2362475" y="4568850"/>
            <a:ext cx="4348901" cy="347600"/>
          </a:xfrm>
          <a:prstGeom prst="rect">
            <a:avLst/>
          </a:prstGeom>
          <a:noFill/>
          <a:ln>
            <a:noFill/>
          </a:ln>
        </p:spPr>
      </p:pic>
      <p:pic>
        <p:nvPicPr>
          <p:cNvPr id="164" name="Google Shape;164;p31"/>
          <p:cNvPicPr preferRelativeResize="0"/>
          <p:nvPr/>
        </p:nvPicPr>
        <p:blipFill>
          <a:blip r:embed="rId5">
            <a:alphaModFix/>
          </a:blip>
          <a:stretch>
            <a:fillRect/>
          </a:stretch>
        </p:blipFill>
        <p:spPr>
          <a:xfrm>
            <a:off x="4987150" y="1291200"/>
            <a:ext cx="3845248" cy="3051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2"/>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Electricity Generation Capacity - Fossil fuels</a:t>
            </a:r>
            <a:endParaRPr b="1"/>
          </a:p>
        </p:txBody>
      </p:sp>
      <p:pic>
        <p:nvPicPr>
          <p:cNvPr id="170" name="Google Shape;170;p32"/>
          <p:cNvPicPr preferRelativeResize="0"/>
          <p:nvPr/>
        </p:nvPicPr>
        <p:blipFill>
          <a:blip r:embed="rId3">
            <a:alphaModFix/>
          </a:blip>
          <a:stretch>
            <a:fillRect/>
          </a:stretch>
        </p:blipFill>
        <p:spPr>
          <a:xfrm>
            <a:off x="638500" y="1227325"/>
            <a:ext cx="5108024" cy="3511800"/>
          </a:xfrm>
          <a:prstGeom prst="rect">
            <a:avLst/>
          </a:prstGeom>
          <a:noFill/>
          <a:ln>
            <a:noFill/>
          </a:ln>
        </p:spPr>
      </p:pic>
      <p:pic>
        <p:nvPicPr>
          <p:cNvPr id="171" name="Google Shape;171;p32"/>
          <p:cNvPicPr preferRelativeResize="0"/>
          <p:nvPr/>
        </p:nvPicPr>
        <p:blipFill>
          <a:blip r:embed="rId4">
            <a:alphaModFix/>
          </a:blip>
          <a:stretch>
            <a:fillRect/>
          </a:stretch>
        </p:blipFill>
        <p:spPr>
          <a:xfrm>
            <a:off x="6321175" y="1319575"/>
            <a:ext cx="2511225" cy="2773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175"/>
        <p:cNvGrpSpPr/>
        <p:nvPr/>
      </p:nvGrpSpPr>
      <p:grpSpPr>
        <a:xfrm>
          <a:off x="0" y="0"/>
          <a:ext cx="0" cy="0"/>
          <a:chOff x="0" y="0"/>
          <a:chExt cx="0" cy="0"/>
        </a:xfrm>
      </p:grpSpPr>
      <p:sp>
        <p:nvSpPr>
          <p:cNvPr id="176" name="Google Shape;176;p33"/>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Electricity Generation Capacity - Fossil fuels vs. RE</a:t>
            </a:r>
            <a:endParaRPr b="1"/>
          </a:p>
        </p:txBody>
      </p:sp>
      <p:sp>
        <p:nvSpPr>
          <p:cNvPr id="177" name="Google Shape;177;p33"/>
          <p:cNvSpPr txBox="1"/>
          <p:nvPr/>
        </p:nvSpPr>
        <p:spPr>
          <a:xfrm>
            <a:off x="4339950" y="1128875"/>
            <a:ext cx="4245600" cy="276995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solidFill>
                  <a:schemeClr val="dk2"/>
                </a:solidFill>
              </a:rPr>
              <a:t>Generation Groupings: </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Natural Gas</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Hydro</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Wind</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Solar</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Coal</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Oil (What do you mean by oil? Is it crude oil or residual fuel oil? Or both?)</a:t>
            </a:r>
            <a:endParaRPr dirty="0">
              <a:solidFill>
                <a:schemeClr val="dk2"/>
              </a:solidFill>
            </a:endParaRPr>
          </a:p>
          <a:p>
            <a:pPr marL="457200" lvl="0" indent="-317500" algn="l" rtl="0">
              <a:spcBef>
                <a:spcPts val="0"/>
              </a:spcBef>
              <a:spcAft>
                <a:spcPts val="0"/>
              </a:spcAft>
              <a:buClr>
                <a:schemeClr val="dk2"/>
              </a:buClr>
              <a:buSzPts val="1400"/>
              <a:buChar char="●"/>
            </a:pPr>
            <a:r>
              <a:rPr lang="en" dirty="0">
                <a:solidFill>
                  <a:schemeClr val="dk2"/>
                </a:solidFill>
              </a:rPr>
              <a:t>Other (Biomass, nuclear, geo)</a:t>
            </a:r>
            <a:endParaRPr dirty="0">
              <a:solidFill>
                <a:schemeClr val="dk2"/>
              </a:solidFill>
            </a:endParaRPr>
          </a:p>
          <a:p>
            <a:pPr marL="0" lvl="0" indent="0" algn="l" rtl="0">
              <a:spcBef>
                <a:spcPts val="0"/>
              </a:spcBef>
              <a:spcAft>
                <a:spcPts val="0"/>
              </a:spcAft>
              <a:buNone/>
            </a:pPr>
            <a:endParaRPr dirty="0">
              <a:solidFill>
                <a:schemeClr val="dk2"/>
              </a:solidFill>
            </a:endParaRPr>
          </a:p>
          <a:p>
            <a:pPr marL="0" lvl="0" indent="0" algn="l" rtl="0">
              <a:spcBef>
                <a:spcPts val="0"/>
              </a:spcBef>
              <a:spcAft>
                <a:spcPts val="0"/>
              </a:spcAft>
              <a:buNone/>
            </a:pPr>
            <a:endParaRPr dirty="0">
              <a:solidFill>
                <a:schemeClr val="dk2"/>
              </a:solidFill>
            </a:endParaRPr>
          </a:p>
          <a:p>
            <a:pPr marL="0" lvl="0" indent="0" algn="l" rtl="0">
              <a:spcBef>
                <a:spcPts val="0"/>
              </a:spcBef>
              <a:spcAft>
                <a:spcPts val="0"/>
              </a:spcAft>
              <a:buNone/>
            </a:pPr>
            <a:r>
              <a:rPr lang="en" dirty="0">
                <a:solidFill>
                  <a:schemeClr val="dk2"/>
                </a:solidFill>
              </a:rPr>
              <a:t>F</a:t>
            </a:r>
            <a:r>
              <a:rPr lang="en-US" dirty="0">
                <a:solidFill>
                  <a:schemeClr val="dk2"/>
                </a:solidFill>
              </a:rPr>
              <a:t>o</a:t>
            </a:r>
            <a:r>
              <a:rPr lang="en" dirty="0">
                <a:solidFill>
                  <a:schemeClr val="dk2"/>
                </a:solidFill>
              </a:rPr>
              <a:t>r years 2020, 2030, 2050</a:t>
            </a:r>
            <a:endParaRPr dirty="0">
              <a:solidFill>
                <a:schemeClr val="dk2"/>
              </a:solidFill>
            </a:endParaRPr>
          </a:p>
        </p:txBody>
      </p:sp>
      <p:sp>
        <p:nvSpPr>
          <p:cNvPr id="2" name="TextBox 1">
            <a:extLst>
              <a:ext uri="{FF2B5EF4-FFF2-40B4-BE49-F238E27FC236}">
                <a16:creationId xmlns:a16="http://schemas.microsoft.com/office/drawing/2014/main" id="{350961DE-9AD8-D19E-9B6B-0010F0CCAB0F}"/>
              </a:ext>
            </a:extLst>
          </p:cNvPr>
          <p:cNvSpPr txBox="1"/>
          <p:nvPr/>
        </p:nvSpPr>
        <p:spPr>
          <a:xfrm>
            <a:off x="1017767" y="1749286"/>
            <a:ext cx="2521844" cy="307777"/>
          </a:xfrm>
          <a:prstGeom prst="rect">
            <a:avLst/>
          </a:prstGeom>
          <a:noFill/>
        </p:spPr>
        <p:txBody>
          <a:bodyPr wrap="none" rtlCol="0">
            <a:spAutoFit/>
          </a:bodyPr>
          <a:lstStyle/>
          <a:p>
            <a:r>
              <a:rPr lang="en-US" dirty="0"/>
              <a:t>INSERT PIE CHARTS HERE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4"/>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Grid Battery Storage Capacity</a:t>
            </a:r>
            <a:endParaRPr b="1"/>
          </a:p>
        </p:txBody>
      </p:sp>
      <p:pic>
        <p:nvPicPr>
          <p:cNvPr id="182" name="Google Shape;182;p34"/>
          <p:cNvPicPr preferRelativeResize="0"/>
          <p:nvPr/>
        </p:nvPicPr>
        <p:blipFill>
          <a:blip r:embed="rId3">
            <a:alphaModFix/>
          </a:blip>
          <a:stretch>
            <a:fillRect/>
          </a:stretch>
        </p:blipFill>
        <p:spPr>
          <a:xfrm>
            <a:off x="2117588" y="1245150"/>
            <a:ext cx="5235727" cy="3306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CO2e Emissions by Vehicle Type</a:t>
            </a:r>
            <a:endParaRPr b="1"/>
          </a:p>
        </p:txBody>
      </p:sp>
      <p:pic>
        <p:nvPicPr>
          <p:cNvPr id="188" name="Google Shape;188;p35"/>
          <p:cNvPicPr preferRelativeResize="0"/>
          <p:nvPr/>
        </p:nvPicPr>
        <p:blipFill>
          <a:blip r:embed="rId3">
            <a:alphaModFix/>
          </a:blip>
          <a:stretch>
            <a:fillRect/>
          </a:stretch>
        </p:blipFill>
        <p:spPr>
          <a:xfrm>
            <a:off x="4572000" y="1340875"/>
            <a:ext cx="3771100" cy="3316800"/>
          </a:xfrm>
          <a:prstGeom prst="rect">
            <a:avLst/>
          </a:prstGeom>
          <a:noFill/>
          <a:ln>
            <a:noFill/>
          </a:ln>
        </p:spPr>
      </p:pic>
      <p:pic>
        <p:nvPicPr>
          <p:cNvPr id="189" name="Google Shape;189;p35"/>
          <p:cNvPicPr preferRelativeResize="0"/>
          <p:nvPr/>
        </p:nvPicPr>
        <p:blipFill>
          <a:blip r:embed="rId4">
            <a:alphaModFix/>
          </a:blip>
          <a:stretch>
            <a:fillRect/>
          </a:stretch>
        </p:blipFill>
        <p:spPr>
          <a:xfrm>
            <a:off x="638500" y="1340875"/>
            <a:ext cx="3710423" cy="3316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6"/>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Transportation Fuel Use</a:t>
            </a:r>
            <a:endParaRPr b="1"/>
          </a:p>
        </p:txBody>
      </p:sp>
      <p:pic>
        <p:nvPicPr>
          <p:cNvPr id="195" name="Google Shape;195;p36"/>
          <p:cNvPicPr preferRelativeResize="0"/>
          <p:nvPr/>
        </p:nvPicPr>
        <p:blipFill>
          <a:blip r:embed="rId3">
            <a:alphaModFix/>
          </a:blip>
          <a:stretch>
            <a:fillRect/>
          </a:stretch>
        </p:blipFill>
        <p:spPr>
          <a:xfrm>
            <a:off x="638500" y="1269900"/>
            <a:ext cx="4207027" cy="3199625"/>
          </a:xfrm>
          <a:prstGeom prst="rect">
            <a:avLst/>
          </a:prstGeom>
          <a:noFill/>
          <a:ln>
            <a:noFill/>
          </a:ln>
        </p:spPr>
      </p:pic>
      <p:pic>
        <p:nvPicPr>
          <p:cNvPr id="196" name="Google Shape;196;p36"/>
          <p:cNvPicPr preferRelativeResize="0"/>
          <p:nvPr/>
        </p:nvPicPr>
        <p:blipFill>
          <a:blip r:embed="rId4">
            <a:alphaModFix/>
          </a:blip>
          <a:stretch>
            <a:fillRect/>
          </a:stretch>
        </p:blipFill>
        <p:spPr>
          <a:xfrm>
            <a:off x="4845525" y="1269900"/>
            <a:ext cx="3710423" cy="3064824"/>
          </a:xfrm>
          <a:prstGeom prst="rect">
            <a:avLst/>
          </a:prstGeom>
          <a:noFill/>
          <a:ln>
            <a:noFill/>
          </a:ln>
        </p:spPr>
      </p:pic>
      <p:pic>
        <p:nvPicPr>
          <p:cNvPr id="197" name="Google Shape;197;p36"/>
          <p:cNvPicPr preferRelativeResize="0"/>
          <p:nvPr/>
        </p:nvPicPr>
        <p:blipFill>
          <a:blip r:embed="rId5">
            <a:alphaModFix/>
          </a:blip>
          <a:stretch>
            <a:fillRect/>
          </a:stretch>
        </p:blipFill>
        <p:spPr>
          <a:xfrm>
            <a:off x="1830375" y="4505000"/>
            <a:ext cx="762275" cy="425675"/>
          </a:xfrm>
          <a:prstGeom prst="rect">
            <a:avLst/>
          </a:prstGeom>
          <a:noFill/>
          <a:ln>
            <a:noFill/>
          </a:ln>
        </p:spPr>
      </p:pic>
      <p:pic>
        <p:nvPicPr>
          <p:cNvPr id="198" name="Google Shape;198;p36"/>
          <p:cNvPicPr preferRelativeResize="0"/>
          <p:nvPr/>
        </p:nvPicPr>
        <p:blipFill>
          <a:blip r:embed="rId6">
            <a:alphaModFix/>
          </a:blip>
          <a:stretch>
            <a:fillRect/>
          </a:stretch>
        </p:blipFill>
        <p:spPr>
          <a:xfrm>
            <a:off x="6292800" y="4428925"/>
            <a:ext cx="666875" cy="4662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Transportation Demand</a:t>
            </a:r>
            <a:endParaRPr b="1"/>
          </a:p>
        </p:txBody>
      </p:sp>
      <p:pic>
        <p:nvPicPr>
          <p:cNvPr id="204" name="Google Shape;204;p37"/>
          <p:cNvPicPr preferRelativeResize="0"/>
          <p:nvPr/>
        </p:nvPicPr>
        <p:blipFill>
          <a:blip r:embed="rId3">
            <a:alphaModFix/>
          </a:blip>
          <a:stretch>
            <a:fillRect/>
          </a:stretch>
        </p:blipFill>
        <p:spPr>
          <a:xfrm>
            <a:off x="5100400" y="1163500"/>
            <a:ext cx="3427174" cy="2745550"/>
          </a:xfrm>
          <a:prstGeom prst="rect">
            <a:avLst/>
          </a:prstGeom>
          <a:noFill/>
          <a:ln>
            <a:noFill/>
          </a:ln>
        </p:spPr>
      </p:pic>
      <p:pic>
        <p:nvPicPr>
          <p:cNvPr id="205" name="Google Shape;205;p37"/>
          <p:cNvPicPr preferRelativeResize="0"/>
          <p:nvPr/>
        </p:nvPicPr>
        <p:blipFill>
          <a:blip r:embed="rId4">
            <a:alphaModFix/>
          </a:blip>
          <a:stretch>
            <a:fillRect/>
          </a:stretch>
        </p:blipFill>
        <p:spPr>
          <a:xfrm>
            <a:off x="2716787" y="4022575"/>
            <a:ext cx="3710424" cy="908100"/>
          </a:xfrm>
          <a:prstGeom prst="rect">
            <a:avLst/>
          </a:prstGeom>
          <a:noFill/>
          <a:ln>
            <a:noFill/>
          </a:ln>
        </p:spPr>
      </p:pic>
      <p:pic>
        <p:nvPicPr>
          <p:cNvPr id="206" name="Google Shape;206;p37"/>
          <p:cNvPicPr preferRelativeResize="0"/>
          <p:nvPr/>
        </p:nvPicPr>
        <p:blipFill>
          <a:blip r:embed="rId5">
            <a:alphaModFix/>
          </a:blip>
          <a:stretch>
            <a:fillRect/>
          </a:stretch>
        </p:blipFill>
        <p:spPr>
          <a:xfrm>
            <a:off x="638500" y="1163499"/>
            <a:ext cx="3710403" cy="26808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8"/>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Carbon Price</a:t>
            </a:r>
            <a:endParaRPr b="1"/>
          </a:p>
        </p:txBody>
      </p:sp>
      <p:pic>
        <p:nvPicPr>
          <p:cNvPr id="212" name="Google Shape;212;p38"/>
          <p:cNvPicPr preferRelativeResize="0"/>
          <p:nvPr/>
        </p:nvPicPr>
        <p:blipFill>
          <a:blip r:embed="rId3">
            <a:alphaModFix/>
          </a:blip>
          <a:stretch>
            <a:fillRect/>
          </a:stretch>
        </p:blipFill>
        <p:spPr>
          <a:xfrm>
            <a:off x="1657888" y="1206325"/>
            <a:ext cx="5828224" cy="35051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9"/>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Total Employment in Mexico</a:t>
            </a:r>
            <a:endParaRPr b="1"/>
          </a:p>
        </p:txBody>
      </p:sp>
      <p:pic>
        <p:nvPicPr>
          <p:cNvPr id="218" name="Google Shape;218;p39"/>
          <p:cNvPicPr preferRelativeResize="0"/>
          <p:nvPr/>
        </p:nvPicPr>
        <p:blipFill>
          <a:blip r:embed="rId3">
            <a:alphaModFix/>
          </a:blip>
          <a:stretch>
            <a:fillRect/>
          </a:stretch>
        </p:blipFill>
        <p:spPr>
          <a:xfrm>
            <a:off x="517175" y="950050"/>
            <a:ext cx="5491200" cy="3778749"/>
          </a:xfrm>
          <a:prstGeom prst="rect">
            <a:avLst/>
          </a:prstGeom>
          <a:noFill/>
          <a:ln>
            <a:noFill/>
          </a:ln>
        </p:spPr>
      </p:pic>
      <p:sp>
        <p:nvSpPr>
          <p:cNvPr id="219" name="Google Shape;219;p39"/>
          <p:cNvSpPr txBox="1"/>
          <p:nvPr/>
        </p:nvSpPr>
        <p:spPr>
          <a:xfrm>
            <a:off x="6318000" y="1134000"/>
            <a:ext cx="26799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rPr>
              <a:t>The Climate Ambition Scenario policy package has more total jobs in both the short-term and long-term. There are more new green jobs than jobs lost during economic changes.</a:t>
            </a:r>
            <a:endParaRPr sz="18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0"/>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Employment by Most Affected Sectors</a:t>
            </a:r>
            <a:endParaRPr b="1"/>
          </a:p>
        </p:txBody>
      </p:sp>
      <p:pic>
        <p:nvPicPr>
          <p:cNvPr id="225" name="Google Shape;225;p40"/>
          <p:cNvPicPr preferRelativeResize="0"/>
          <p:nvPr/>
        </p:nvPicPr>
        <p:blipFill>
          <a:blip r:embed="rId3">
            <a:alphaModFix/>
          </a:blip>
          <a:stretch>
            <a:fillRect/>
          </a:stretch>
        </p:blipFill>
        <p:spPr>
          <a:xfrm>
            <a:off x="638500" y="1113825"/>
            <a:ext cx="3220899" cy="3948226"/>
          </a:xfrm>
          <a:prstGeom prst="rect">
            <a:avLst/>
          </a:prstGeom>
          <a:noFill/>
          <a:ln>
            <a:noFill/>
          </a:ln>
        </p:spPr>
      </p:pic>
      <p:sp>
        <p:nvSpPr>
          <p:cNvPr id="226" name="Google Shape;226;p40"/>
          <p:cNvSpPr txBox="1"/>
          <p:nvPr/>
        </p:nvSpPr>
        <p:spPr>
          <a:xfrm>
            <a:off x="4639900" y="1035825"/>
            <a:ext cx="4192500" cy="3843600"/>
          </a:xfrm>
          <a:prstGeom prst="rect">
            <a:avLst/>
          </a:prstGeom>
          <a:noFill/>
          <a:ln>
            <a:noFill/>
          </a:ln>
        </p:spPr>
        <p:txBody>
          <a:bodyPr spcFirstLastPara="1" wrap="square" lIns="91425" tIns="91425" rIns="91425" bIns="91425" anchor="t" anchorCtr="0">
            <a:spAutoFit/>
          </a:bodyPr>
          <a:lstStyle/>
          <a:p>
            <a:pPr marL="457200" lvl="0" indent="-292100" algn="l" rtl="0">
              <a:lnSpc>
                <a:spcPct val="115000"/>
              </a:lnSpc>
              <a:spcBef>
                <a:spcPts val="0"/>
              </a:spcBef>
              <a:spcAft>
                <a:spcPts val="0"/>
              </a:spcAft>
              <a:buClr>
                <a:schemeClr val="dk1"/>
              </a:buClr>
              <a:buSzPts val="1000"/>
              <a:buChar char="●"/>
            </a:pPr>
            <a:r>
              <a:rPr lang="en" sz="1000">
                <a:solidFill>
                  <a:schemeClr val="dk1"/>
                </a:solidFill>
              </a:rPr>
              <a:t>The initial job losses from 2026 to 2031 are due to the transition away from animal-based products, as industries related to animal agriculture face declines. However, the policies that drive job creation, such as carbon pricing and regional buy-in initiatives, stimulate new opportunities in agriculture, forestry, and fishing sectors.</a:t>
            </a:r>
            <a:endParaRPr sz="1000">
              <a:solidFill>
                <a:schemeClr val="dk1"/>
              </a:solidFill>
            </a:endParaRPr>
          </a:p>
          <a:p>
            <a:pPr marL="457200" lvl="0" indent="0" algn="l" rtl="0">
              <a:lnSpc>
                <a:spcPct val="115000"/>
              </a:lnSpc>
              <a:spcBef>
                <a:spcPts val="0"/>
              </a:spcBef>
              <a:spcAft>
                <a:spcPts val="0"/>
              </a:spcAft>
              <a:buNone/>
            </a:pP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 sz="900">
                <a:solidFill>
                  <a:schemeClr val="dk1"/>
                </a:solidFill>
              </a:rPr>
              <a:t>T</a:t>
            </a:r>
            <a:r>
              <a:rPr lang="en" sz="1000">
                <a:solidFill>
                  <a:schemeClr val="dk1"/>
                </a:solidFill>
              </a:rPr>
              <a:t>he increase in jobs within the private household sector with employed persons is explained by the induced employment generated following the implementation of the policy package. As the policies stimulate economic growth in sustainable industries, household incomes rise, leading to greater demand for domestic services and personal care, which in turn drives job creation in this sector.</a:t>
            </a:r>
            <a:endParaRPr sz="1000">
              <a:solidFill>
                <a:schemeClr val="dk1"/>
              </a:solidFill>
            </a:endParaRPr>
          </a:p>
          <a:p>
            <a:pPr marL="457200" lvl="0" indent="0" algn="l" rtl="0">
              <a:lnSpc>
                <a:spcPct val="115000"/>
              </a:lnSpc>
              <a:spcBef>
                <a:spcPts val="0"/>
              </a:spcBef>
              <a:spcAft>
                <a:spcPts val="0"/>
              </a:spcAft>
              <a:buNone/>
            </a:pP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 sz="1000">
                <a:solidFill>
                  <a:schemeClr val="dk1"/>
                </a:solidFill>
              </a:rPr>
              <a:t>The decrease in jobs in sectors such as coke and refined petroleum products, motor vehicles, trailers and semi-trailers, and electricity generation, transmission, and distribution is explained by early retirement policies, the ban on new fossil fuel power plants, and the transition to clean vehicle technologies.</a:t>
            </a:r>
            <a:endParaRPr sz="10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1"/>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Gross Domestic Product (GDP)</a:t>
            </a:r>
            <a:endParaRPr b="1"/>
          </a:p>
        </p:txBody>
      </p:sp>
      <p:pic>
        <p:nvPicPr>
          <p:cNvPr id="232" name="Google Shape;232;p41"/>
          <p:cNvPicPr preferRelativeResize="0"/>
          <p:nvPr/>
        </p:nvPicPr>
        <p:blipFill>
          <a:blip r:embed="rId3">
            <a:alphaModFix/>
          </a:blip>
          <a:stretch>
            <a:fillRect/>
          </a:stretch>
        </p:blipFill>
        <p:spPr>
          <a:xfrm>
            <a:off x="638500" y="1277025"/>
            <a:ext cx="4114801" cy="3206701"/>
          </a:xfrm>
          <a:prstGeom prst="rect">
            <a:avLst/>
          </a:prstGeom>
          <a:noFill/>
          <a:ln>
            <a:noFill/>
          </a:ln>
        </p:spPr>
      </p:pic>
      <p:pic>
        <p:nvPicPr>
          <p:cNvPr id="233" name="Google Shape;233;p41"/>
          <p:cNvPicPr preferRelativeResize="0"/>
          <p:nvPr/>
        </p:nvPicPr>
        <p:blipFill>
          <a:blip r:embed="rId4">
            <a:alphaModFix/>
          </a:blip>
          <a:stretch>
            <a:fillRect/>
          </a:stretch>
        </p:blipFill>
        <p:spPr>
          <a:xfrm>
            <a:off x="4912775" y="1277025"/>
            <a:ext cx="3472901" cy="3050601"/>
          </a:xfrm>
          <a:prstGeom prst="rect">
            <a:avLst/>
          </a:prstGeom>
          <a:noFill/>
          <a:ln>
            <a:noFill/>
          </a:ln>
        </p:spPr>
      </p:pic>
      <p:pic>
        <p:nvPicPr>
          <p:cNvPr id="234" name="Google Shape;234;p41"/>
          <p:cNvPicPr preferRelativeResize="0"/>
          <p:nvPr/>
        </p:nvPicPr>
        <p:blipFill>
          <a:blip r:embed="rId5">
            <a:alphaModFix/>
          </a:blip>
          <a:stretch>
            <a:fillRect/>
          </a:stretch>
        </p:blipFill>
        <p:spPr>
          <a:xfrm>
            <a:off x="3252712" y="4327625"/>
            <a:ext cx="2965475" cy="676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2"/>
          <p:cNvSpPr txBox="1">
            <a:spLocks noGrp="1"/>
          </p:cNvSpPr>
          <p:nvPr>
            <p:ph type="title"/>
          </p:nvPr>
        </p:nvSpPr>
        <p:spPr>
          <a:xfrm>
            <a:off x="409900" y="218000"/>
            <a:ext cx="8193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20" b="1"/>
              <a:t>Gross Domestic Product (GDP) by Most Affected Sectors</a:t>
            </a:r>
            <a:endParaRPr sz="2320" b="1"/>
          </a:p>
        </p:txBody>
      </p:sp>
      <p:sp>
        <p:nvSpPr>
          <p:cNvPr id="240" name="Google Shape;240;p42"/>
          <p:cNvSpPr txBox="1"/>
          <p:nvPr/>
        </p:nvSpPr>
        <p:spPr>
          <a:xfrm>
            <a:off x="4292150" y="1667225"/>
            <a:ext cx="4540200" cy="25335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0"/>
              </a:spcBef>
              <a:spcAft>
                <a:spcPts val="0"/>
              </a:spcAft>
              <a:buClr>
                <a:schemeClr val="dk1"/>
              </a:buClr>
              <a:buSzPts val="1200"/>
              <a:buChar char="●"/>
            </a:pPr>
            <a:r>
              <a:rPr lang="en" sz="1100">
                <a:solidFill>
                  <a:schemeClr val="dk1"/>
                </a:solidFill>
              </a:rPr>
              <a:t>T</a:t>
            </a:r>
            <a:r>
              <a:rPr lang="en" sz="1000">
                <a:solidFill>
                  <a:schemeClr val="dk1"/>
                </a:solidFill>
              </a:rPr>
              <a:t>he policies driving GDP growth, like carbon pricing, regional buy-in initiatives, the shift to renewable energy, and green transportation, stimulate industries such as oil and gas extraction through increased exports, as well as the food, beverages, tobacco, and real estate sectors. Food products benefit from increased demand due to trade. Real estate sees growth from increased business activity and housing demand.</a:t>
            </a:r>
            <a:endParaRPr sz="1000">
              <a:solidFill>
                <a:schemeClr val="dk1"/>
              </a:solidFill>
            </a:endParaRPr>
          </a:p>
          <a:p>
            <a:pPr marL="0" lvl="0" indent="0" algn="l" rtl="0">
              <a:lnSpc>
                <a:spcPct val="115000"/>
              </a:lnSpc>
              <a:spcBef>
                <a:spcPts val="0"/>
              </a:spcBef>
              <a:spcAft>
                <a:spcPts val="0"/>
              </a:spcAft>
              <a:buNone/>
            </a:pPr>
            <a:endParaRPr sz="10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000">
                <a:solidFill>
                  <a:schemeClr val="dk1"/>
                </a:solidFill>
              </a:rPr>
              <a:t>The decrease in GDP in sectors such as coke and refined petroleum products, motor vehicles, trailers and semi-trailers, and electricity generation, transmission, and distribution is explained by early retirement policies, the ban on new fossil fuel power plants, and the transition to clean vehicle technologies.</a:t>
            </a:r>
            <a:endParaRPr sz="1000">
              <a:solidFill>
                <a:schemeClr val="dk1"/>
              </a:solidFill>
            </a:endParaRPr>
          </a:p>
        </p:txBody>
      </p:sp>
      <p:pic>
        <p:nvPicPr>
          <p:cNvPr id="241" name="Google Shape;241;p42"/>
          <p:cNvPicPr preferRelativeResize="0"/>
          <p:nvPr/>
        </p:nvPicPr>
        <p:blipFill>
          <a:blip r:embed="rId3">
            <a:alphaModFix/>
          </a:blip>
          <a:stretch>
            <a:fillRect/>
          </a:stretch>
        </p:blipFill>
        <p:spPr>
          <a:xfrm>
            <a:off x="638500" y="790700"/>
            <a:ext cx="3284749" cy="40479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3"/>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Reduction in National Debt</a:t>
            </a:r>
            <a:endParaRPr b="1"/>
          </a:p>
        </p:txBody>
      </p:sp>
      <p:pic>
        <p:nvPicPr>
          <p:cNvPr id="247" name="Google Shape;247;p43"/>
          <p:cNvPicPr preferRelativeResize="0"/>
          <p:nvPr/>
        </p:nvPicPr>
        <p:blipFill>
          <a:blip r:embed="rId3">
            <a:alphaModFix/>
          </a:blip>
          <a:stretch>
            <a:fillRect/>
          </a:stretch>
        </p:blipFill>
        <p:spPr>
          <a:xfrm>
            <a:off x="603025" y="1135125"/>
            <a:ext cx="5349248" cy="3540149"/>
          </a:xfrm>
          <a:prstGeom prst="rect">
            <a:avLst/>
          </a:prstGeom>
          <a:noFill/>
          <a:ln>
            <a:noFill/>
          </a:ln>
        </p:spPr>
      </p:pic>
      <p:sp>
        <p:nvSpPr>
          <p:cNvPr id="248" name="Google Shape;248;p43"/>
          <p:cNvSpPr txBox="1"/>
          <p:nvPr/>
        </p:nvSpPr>
        <p:spPr>
          <a:xfrm>
            <a:off x="6296700" y="1324950"/>
            <a:ext cx="2622000" cy="264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dk2"/>
                </a:solidFill>
              </a:rPr>
              <a:t>Mexico is fiscally better.</a:t>
            </a:r>
            <a:endParaRPr sz="1600" b="1">
              <a:solidFill>
                <a:schemeClr val="dk2"/>
              </a:solidFill>
            </a:endParaRPr>
          </a:p>
          <a:p>
            <a:pPr marL="0" lvl="0" indent="0" algn="l" rtl="0">
              <a:spcBef>
                <a:spcPts val="0"/>
              </a:spcBef>
              <a:spcAft>
                <a:spcPts val="0"/>
              </a:spcAft>
              <a:buNone/>
            </a:pPr>
            <a:endParaRPr sz="1600">
              <a:solidFill>
                <a:schemeClr val="dk2"/>
              </a:solidFill>
            </a:endParaRPr>
          </a:p>
          <a:p>
            <a:pPr marL="0" lvl="0" indent="0" algn="l" rtl="0">
              <a:spcBef>
                <a:spcPts val="0"/>
              </a:spcBef>
              <a:spcAft>
                <a:spcPts val="0"/>
              </a:spcAft>
              <a:buNone/>
            </a:pPr>
            <a:r>
              <a:rPr lang="en" sz="1600">
                <a:solidFill>
                  <a:schemeClr val="dk2"/>
                </a:solidFill>
              </a:rPr>
              <a:t>A negative change in national debt means that the national debt has decreased compared to BAU, indicating that the policy package has increased government cash flow.</a:t>
            </a:r>
            <a:endParaRPr sz="16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4"/>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Increased Government Cash Flow</a:t>
            </a:r>
            <a:endParaRPr b="1"/>
          </a:p>
        </p:txBody>
      </p:sp>
      <p:pic>
        <p:nvPicPr>
          <p:cNvPr id="254" name="Google Shape;254;p44"/>
          <p:cNvPicPr preferRelativeResize="0"/>
          <p:nvPr/>
        </p:nvPicPr>
        <p:blipFill>
          <a:blip r:embed="rId3">
            <a:alphaModFix/>
          </a:blip>
          <a:stretch>
            <a:fillRect/>
          </a:stretch>
        </p:blipFill>
        <p:spPr>
          <a:xfrm>
            <a:off x="638500" y="943100"/>
            <a:ext cx="6037974" cy="3916400"/>
          </a:xfrm>
          <a:prstGeom prst="rect">
            <a:avLst/>
          </a:prstGeom>
          <a:noFill/>
          <a:ln>
            <a:noFill/>
          </a:ln>
        </p:spPr>
      </p:pic>
      <p:sp>
        <p:nvSpPr>
          <p:cNvPr id="255" name="Google Shape;255;p44"/>
          <p:cNvSpPr txBox="1"/>
          <p:nvPr/>
        </p:nvSpPr>
        <p:spPr>
          <a:xfrm>
            <a:off x="6450725" y="1084950"/>
            <a:ext cx="26493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rPr>
              <a:t>Government cash flows improves because:</a:t>
            </a:r>
            <a:endParaRPr>
              <a:solidFill>
                <a:schemeClr val="dk2"/>
              </a:solidFill>
            </a:endParaRPr>
          </a:p>
          <a:p>
            <a:pPr marL="457200" lvl="0" indent="-317500" algn="l" rtl="0">
              <a:spcBef>
                <a:spcPts val="0"/>
              </a:spcBef>
              <a:spcAft>
                <a:spcPts val="0"/>
              </a:spcAft>
              <a:buClr>
                <a:schemeClr val="dk2"/>
              </a:buClr>
              <a:buSzPts val="1400"/>
              <a:buChar char="●"/>
            </a:pPr>
            <a:r>
              <a:rPr lang="en">
                <a:solidFill>
                  <a:schemeClr val="dk2"/>
                </a:solidFill>
              </a:rPr>
              <a:t>Increased carbon tax revenue</a:t>
            </a:r>
            <a:endParaRPr>
              <a:solidFill>
                <a:schemeClr val="dk2"/>
              </a:solidFill>
            </a:endParaRPr>
          </a:p>
          <a:p>
            <a:pPr marL="457200" lvl="0" indent="-317500" algn="l" rtl="0">
              <a:spcBef>
                <a:spcPts val="0"/>
              </a:spcBef>
              <a:spcAft>
                <a:spcPts val="0"/>
              </a:spcAft>
              <a:buClr>
                <a:schemeClr val="dk2"/>
              </a:buClr>
              <a:buSzPts val="1400"/>
              <a:buChar char="●"/>
            </a:pPr>
            <a:r>
              <a:rPr lang="en">
                <a:solidFill>
                  <a:schemeClr val="dk2"/>
                </a:solidFill>
              </a:rPr>
              <a:t>Decreased of fuel subsidy expenditures</a:t>
            </a:r>
            <a:endParaRPr>
              <a:solidFill>
                <a:schemeClr val="dk2"/>
              </a:solidFill>
            </a:endParaRPr>
          </a:p>
          <a:p>
            <a:pPr marL="457200" lvl="0" indent="-317500" algn="l" rtl="0">
              <a:spcBef>
                <a:spcPts val="0"/>
              </a:spcBef>
              <a:spcAft>
                <a:spcPts val="0"/>
              </a:spcAft>
              <a:buClr>
                <a:schemeClr val="dk2"/>
              </a:buClr>
              <a:buSzPts val="1400"/>
              <a:buChar char="●"/>
            </a:pPr>
            <a:r>
              <a:rPr lang="en">
                <a:solidFill>
                  <a:schemeClr val="dk2"/>
                </a:solidFill>
              </a:rPr>
              <a:t>Reduced interest payments on national debt</a:t>
            </a:r>
            <a:endParaRPr>
              <a:solidFill>
                <a:schemeClr val="dk2"/>
              </a:solidFill>
            </a:endParaRPr>
          </a:p>
          <a:p>
            <a:pPr marL="0" lvl="0" indent="0" algn="l" rtl="0">
              <a:spcBef>
                <a:spcPts val="0"/>
              </a:spcBef>
              <a:spcAft>
                <a:spcPts val="0"/>
              </a:spcAft>
              <a:buNone/>
            </a:pPr>
            <a:endParaRPr>
              <a:solidFill>
                <a:schemeClr val="dk2"/>
              </a:solidFill>
            </a:endParaRPr>
          </a:p>
          <a:p>
            <a:pPr marL="0" lvl="0" indent="0" algn="l" rtl="0">
              <a:spcBef>
                <a:spcPts val="0"/>
              </a:spcBef>
              <a:spcAft>
                <a:spcPts val="0"/>
              </a:spcAft>
              <a:buNone/>
            </a:pPr>
            <a:r>
              <a:rPr lang="en">
                <a:solidFill>
                  <a:schemeClr val="dk2"/>
                </a:solidFill>
              </a:rPr>
              <a:t>These offset a reduction in fuel tax revenue and miscellaneous “Remainder” spending</a:t>
            </a:r>
            <a:endParaRPr>
              <a:solidFill>
                <a:schemeClr val="dk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5"/>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Health Benefits</a:t>
            </a:r>
            <a:endParaRPr b="1"/>
          </a:p>
        </p:txBody>
      </p:sp>
      <p:pic>
        <p:nvPicPr>
          <p:cNvPr id="261" name="Google Shape;261;p45"/>
          <p:cNvPicPr preferRelativeResize="0"/>
          <p:nvPr/>
        </p:nvPicPr>
        <p:blipFill>
          <a:blip r:embed="rId3">
            <a:alphaModFix/>
          </a:blip>
          <a:stretch>
            <a:fillRect/>
          </a:stretch>
        </p:blipFill>
        <p:spPr>
          <a:xfrm>
            <a:off x="5427975" y="318400"/>
            <a:ext cx="2916127" cy="2320478"/>
          </a:xfrm>
          <a:prstGeom prst="rect">
            <a:avLst/>
          </a:prstGeom>
          <a:noFill/>
          <a:ln>
            <a:noFill/>
          </a:ln>
        </p:spPr>
      </p:pic>
      <p:pic>
        <p:nvPicPr>
          <p:cNvPr id="262" name="Google Shape;262;p45"/>
          <p:cNvPicPr preferRelativeResize="0"/>
          <p:nvPr/>
        </p:nvPicPr>
        <p:blipFill>
          <a:blip r:embed="rId4">
            <a:alphaModFix/>
          </a:blip>
          <a:stretch>
            <a:fillRect/>
          </a:stretch>
        </p:blipFill>
        <p:spPr>
          <a:xfrm>
            <a:off x="5498225" y="2571750"/>
            <a:ext cx="2809426" cy="2320475"/>
          </a:xfrm>
          <a:prstGeom prst="rect">
            <a:avLst/>
          </a:prstGeom>
          <a:noFill/>
          <a:ln>
            <a:noFill/>
          </a:ln>
        </p:spPr>
      </p:pic>
      <p:sp>
        <p:nvSpPr>
          <p:cNvPr id="263" name="Google Shape;263;p45"/>
          <p:cNvSpPr txBox="1"/>
          <p:nvPr/>
        </p:nvSpPr>
        <p:spPr>
          <a:xfrm>
            <a:off x="509800" y="1157025"/>
            <a:ext cx="3772200" cy="31950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Char char="●"/>
            </a:pPr>
            <a:r>
              <a:rPr lang="en" sz="1300">
                <a:solidFill>
                  <a:schemeClr val="dk1"/>
                </a:solidFill>
              </a:rPr>
              <a:t>Moving away from fossil fuels (coal, fuel oil and natural gas) and switching to more sustainable modes of transport, can bring health benefits associated with the reduction of criteria pollutants such as PM, SO2, NOx, carbon monoxide and black carbon.</a:t>
            </a:r>
            <a:endParaRPr sz="1300">
              <a:solidFill>
                <a:schemeClr val="dk1"/>
              </a:solidFill>
            </a:endParaRPr>
          </a:p>
          <a:p>
            <a:pPr marL="457200" lvl="0" indent="-311150" algn="l" rtl="0">
              <a:spcBef>
                <a:spcPts val="1000"/>
              </a:spcBef>
              <a:spcAft>
                <a:spcPts val="1000"/>
              </a:spcAft>
              <a:buClr>
                <a:schemeClr val="dk1"/>
              </a:buClr>
              <a:buSzPts val="1300"/>
              <a:buChar char="●"/>
            </a:pPr>
            <a:r>
              <a:rPr lang="en" sz="1300">
                <a:solidFill>
                  <a:schemeClr val="dk1"/>
                </a:solidFill>
              </a:rPr>
              <a:t>Air quality improvements avoid 3,693 deaths by 2050.</a:t>
            </a:r>
            <a:endParaRPr sz="13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6"/>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Economic Cost of the Policy Package</a:t>
            </a:r>
            <a:endParaRPr b="1"/>
          </a:p>
          <a:p>
            <a:pPr marL="0" lvl="0" indent="0" algn="l" rtl="0">
              <a:spcBef>
                <a:spcPts val="0"/>
              </a:spcBef>
              <a:spcAft>
                <a:spcPts val="0"/>
              </a:spcAft>
              <a:buNone/>
            </a:pPr>
            <a:r>
              <a:rPr lang="en" b="1"/>
              <a:t>Capital Expenditures</a:t>
            </a:r>
            <a:endParaRPr b="1"/>
          </a:p>
        </p:txBody>
      </p:sp>
      <p:pic>
        <p:nvPicPr>
          <p:cNvPr id="269" name="Google Shape;269;p46"/>
          <p:cNvPicPr preferRelativeResize="0"/>
          <p:nvPr/>
        </p:nvPicPr>
        <p:blipFill>
          <a:blip r:embed="rId3">
            <a:alphaModFix/>
          </a:blip>
          <a:stretch>
            <a:fillRect/>
          </a:stretch>
        </p:blipFill>
        <p:spPr>
          <a:xfrm>
            <a:off x="638500" y="1191875"/>
            <a:ext cx="6257175" cy="379922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Economic Cost of the Policy Package</a:t>
            </a:r>
            <a:endParaRPr b="1"/>
          </a:p>
          <a:p>
            <a:pPr marL="0" lvl="0" indent="0" algn="l" rtl="0">
              <a:spcBef>
                <a:spcPts val="0"/>
              </a:spcBef>
              <a:spcAft>
                <a:spcPts val="0"/>
              </a:spcAft>
              <a:buNone/>
            </a:pPr>
            <a:r>
              <a:rPr lang="en" b="1"/>
              <a:t>Operations and Maintenance</a:t>
            </a:r>
            <a:endParaRPr b="1"/>
          </a:p>
        </p:txBody>
      </p:sp>
      <p:pic>
        <p:nvPicPr>
          <p:cNvPr id="275" name="Google Shape;275;p47"/>
          <p:cNvPicPr preferRelativeResize="0"/>
          <p:nvPr/>
        </p:nvPicPr>
        <p:blipFill>
          <a:blip r:embed="rId3">
            <a:alphaModFix/>
          </a:blip>
          <a:stretch>
            <a:fillRect/>
          </a:stretch>
        </p:blipFill>
        <p:spPr>
          <a:xfrm>
            <a:off x="638500" y="1206050"/>
            <a:ext cx="6264975" cy="378504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8"/>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Water Consumption by Power Plant</a:t>
            </a:r>
            <a:endParaRPr b="1"/>
          </a:p>
        </p:txBody>
      </p:sp>
      <p:pic>
        <p:nvPicPr>
          <p:cNvPr id="281" name="Google Shape;281;p48"/>
          <p:cNvPicPr preferRelativeResize="0"/>
          <p:nvPr/>
        </p:nvPicPr>
        <p:blipFill>
          <a:blip r:embed="rId3">
            <a:alphaModFix/>
          </a:blip>
          <a:stretch>
            <a:fillRect/>
          </a:stretch>
        </p:blipFill>
        <p:spPr>
          <a:xfrm>
            <a:off x="938750" y="790700"/>
            <a:ext cx="7150423" cy="2123000"/>
          </a:xfrm>
          <a:prstGeom prst="rect">
            <a:avLst/>
          </a:prstGeom>
          <a:noFill/>
          <a:ln>
            <a:noFill/>
          </a:ln>
        </p:spPr>
      </p:pic>
      <p:pic>
        <p:nvPicPr>
          <p:cNvPr id="282" name="Google Shape;282;p48"/>
          <p:cNvPicPr preferRelativeResize="0"/>
          <p:nvPr/>
        </p:nvPicPr>
        <p:blipFill>
          <a:blip r:embed="rId4">
            <a:alphaModFix/>
          </a:blip>
          <a:stretch>
            <a:fillRect/>
          </a:stretch>
        </p:blipFill>
        <p:spPr>
          <a:xfrm>
            <a:off x="951275" y="2913700"/>
            <a:ext cx="7241452" cy="19815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9"/>
          <p:cNvSpPr txBox="1">
            <a:spLocks noGrp="1"/>
          </p:cNvSpPr>
          <p:nvPr>
            <p:ph type="title"/>
          </p:nvPr>
        </p:nvSpPr>
        <p:spPr>
          <a:xfrm>
            <a:off x="638500" y="218000"/>
            <a:ext cx="8193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Water Consumption by Power Plant</a:t>
            </a:r>
            <a:endParaRPr b="1"/>
          </a:p>
        </p:txBody>
      </p:sp>
      <p:pic>
        <p:nvPicPr>
          <p:cNvPr id="288" name="Google Shape;288;p49"/>
          <p:cNvPicPr preferRelativeResize="0"/>
          <p:nvPr/>
        </p:nvPicPr>
        <p:blipFill>
          <a:blip r:embed="rId3">
            <a:alphaModFix/>
          </a:blip>
          <a:stretch>
            <a:fillRect/>
          </a:stretch>
        </p:blipFill>
        <p:spPr>
          <a:xfrm>
            <a:off x="705500" y="1489850"/>
            <a:ext cx="7843348" cy="2447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Table with GHG emissions by Sector 2020–2050</a:t>
            </a:r>
            <a:endParaRPr b="1"/>
          </a:p>
        </p:txBody>
      </p:sp>
      <p:pic>
        <p:nvPicPr>
          <p:cNvPr id="294" name="Google Shape;294;p50"/>
          <p:cNvPicPr preferRelativeResize="0"/>
          <p:nvPr/>
        </p:nvPicPr>
        <p:blipFill>
          <a:blip r:embed="rId3">
            <a:alphaModFix/>
          </a:blip>
          <a:stretch>
            <a:fillRect/>
          </a:stretch>
        </p:blipFill>
        <p:spPr>
          <a:xfrm>
            <a:off x="152400" y="971950"/>
            <a:ext cx="8839200" cy="39180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1656</TotalTime>
  <Words>2552</Words>
  <Application>Microsoft Macintosh PowerPoint</Application>
  <PresentationFormat>On-screen Show (16:9)</PresentationFormat>
  <Paragraphs>190</Paragraphs>
  <Slides>46</Slides>
  <Notes>46</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Aparajita</vt:lpstr>
      <vt:lpstr>Aptos</vt:lpstr>
      <vt:lpstr>Arial</vt:lpstr>
      <vt:lpstr>Cambria</vt:lpstr>
      <vt:lpstr>Simple Light</vt:lpstr>
      <vt:lpstr>Climate Ambitious Scenario for Mexico: EPS Modeling Results</vt:lpstr>
      <vt:lpstr>Scenario Policy Description</vt:lpstr>
      <vt:lpstr>Scenarios</vt:lpstr>
      <vt:lpstr>CAS Cross Sectoral  Policies (market subsidies/taxes)</vt:lpstr>
      <vt:lpstr>CAS Electric Sector Policies </vt:lpstr>
      <vt:lpstr>CAS Distributed Generation Policies </vt:lpstr>
      <vt:lpstr>CAS Residential and Commercial Buildings Policies</vt:lpstr>
      <vt:lpstr>CAS Transport Policies</vt:lpstr>
      <vt:lpstr>CAS Oil and Gas Policies - Fugitive Emissions</vt:lpstr>
      <vt:lpstr>CAS Oil and Gas - Cogeneration Opportunities</vt:lpstr>
      <vt:lpstr>CAS Industrial Policies (1)</vt:lpstr>
      <vt:lpstr>CAS Industrial Policies (2)</vt:lpstr>
      <vt:lpstr>CAS Industry - Equipment Efficiency Standards &amp; CCS</vt:lpstr>
      <vt:lpstr>CAS Agriculture, Forestry, and Land Use (AFOLU)</vt:lpstr>
      <vt:lpstr>CAS Waste Sector Policies</vt:lpstr>
      <vt:lpstr>Modeling Results</vt:lpstr>
      <vt:lpstr>17.3% decrease in emissions by 2030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Mexico’s Total CO2e Emissions</vt:lpstr>
      <vt:lpstr>CO2e Emissions by Sector</vt:lpstr>
      <vt:lpstr>Electricity Generation Capacity - Renewables</vt:lpstr>
      <vt:lpstr>Electricity Generation Capacity - Fossil fuels</vt:lpstr>
      <vt:lpstr>Electricity Generation Capacity - Fossil fuels vs. RE</vt:lpstr>
      <vt:lpstr>Grid Battery Storage Capacity</vt:lpstr>
      <vt:lpstr>CO2e Emissions by Vehicle Type</vt:lpstr>
      <vt:lpstr>Transportation Fuel Use</vt:lpstr>
      <vt:lpstr>Transportation Demand</vt:lpstr>
      <vt:lpstr>Carbon Price</vt:lpstr>
      <vt:lpstr>Total Employment in Mexico</vt:lpstr>
      <vt:lpstr>Employment by Most Affected Sectors</vt:lpstr>
      <vt:lpstr>Gross Domestic Product (GDP)</vt:lpstr>
      <vt:lpstr>Gross Domestic Product (GDP) by Most Affected Sectors</vt:lpstr>
      <vt:lpstr>Reduction in National Debt</vt:lpstr>
      <vt:lpstr>Increased Government Cash Flow</vt:lpstr>
      <vt:lpstr>Health Benefits</vt:lpstr>
      <vt:lpstr>Economic Cost of the Policy Package Capital Expenditures</vt:lpstr>
      <vt:lpstr>Economic Cost of the Policy Package Operations and Maintenance</vt:lpstr>
      <vt:lpstr>Water Consumption by Power Plant</vt:lpstr>
      <vt:lpstr>Water Consumption by Power Plant</vt:lpstr>
      <vt:lpstr>Table with GHG emissions by Sector 2020–2050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Sy, Saidou Abdoulaye</cp:lastModifiedBy>
  <cp:revision>9</cp:revision>
  <dcterms:modified xsi:type="dcterms:W3CDTF">2025-01-13T19:14:32Z</dcterms:modified>
</cp:coreProperties>
</file>